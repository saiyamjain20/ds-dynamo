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7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x="18288000" cy="10287000"/>
  <p:notesSz cx="6858000" cy="9144000"/>
  <p:embeddedFontLst>
    <p:embeddedFont>
      <p:font typeface="Comic Sans Bold" charset="1" panose="03000902030302020204"/>
      <p:regular r:id="rId26"/>
    </p:embeddedFont>
    <p:embeddedFont>
      <p:font typeface="Comic Sans" charset="1" panose="03000702030302020204"/>
      <p:regular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fonts/font26.fntdata" Type="http://schemas.openxmlformats.org/officeDocument/2006/relationships/font"/><Relationship Id="rId27" Target="notesMasters/notesMaster1.xml" Type="http://schemas.openxmlformats.org/officeDocument/2006/relationships/notesMaster"/><Relationship Id="rId28" Target="theme/theme2.xml" Type="http://schemas.openxmlformats.org/officeDocument/2006/relationships/theme"/><Relationship Id="rId29" Target="notesSlides/notesSlide1.xml" Type="http://schemas.openxmlformats.org/officeDocument/2006/relationships/notesSlide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notesSlides/notesSlide2.xml" Type="http://schemas.openxmlformats.org/officeDocument/2006/relationships/notesSlide"/><Relationship Id="rId32" Target="notesSlides/notesSlide3.xml" Type="http://schemas.openxmlformats.org/officeDocument/2006/relationships/notesSlide"/><Relationship Id="rId33" Target="notesSlides/notesSlide4.xml" Type="http://schemas.openxmlformats.org/officeDocument/2006/relationships/notesSlide"/><Relationship Id="rId34" Target="notesSlides/notesSlide5.xml" Type="http://schemas.openxmlformats.org/officeDocument/2006/relationships/notesSlide"/><Relationship Id="rId35" Target="notesSlides/notesSlide6.xml" Type="http://schemas.openxmlformats.org/officeDocument/2006/relationships/notesSlide"/><Relationship Id="rId36" Target="notesSlides/notesSlide7.xml" Type="http://schemas.openxmlformats.org/officeDocument/2006/relationships/notesSlide"/><Relationship Id="rId37" Target="notesSlides/notesSlide8.xml" Type="http://schemas.openxmlformats.org/officeDocument/2006/relationships/notesSlide"/><Relationship Id="rId38" Target="notesSlides/notesSlide9.xml" Type="http://schemas.openxmlformats.org/officeDocument/2006/relationships/notesSlide"/><Relationship Id="rId39" Target="notesSlides/notesSlide10.xml" Type="http://schemas.openxmlformats.org/officeDocument/2006/relationships/notesSlide"/><Relationship Id="rId4" Target="theme/theme1.xml" Type="http://schemas.openxmlformats.org/officeDocument/2006/relationships/theme"/><Relationship Id="rId40" Target="notesSlides/notesSlide11.xml" Type="http://schemas.openxmlformats.org/officeDocument/2006/relationships/notesSlide"/><Relationship Id="rId41" Target="notesSlides/notesSlide12.xml" Type="http://schemas.openxmlformats.org/officeDocument/2006/relationships/notesSlide"/><Relationship Id="rId42" Target="notesSlides/notesSlide13.xml" Type="http://schemas.openxmlformats.org/officeDocument/2006/relationships/notesSlide"/><Relationship Id="rId43" Target="notesSlides/notesSlide14.xml" Type="http://schemas.openxmlformats.org/officeDocument/2006/relationships/notesSlide"/><Relationship Id="rId44" Target="notesSlides/notesSlide15.xml" Type="http://schemas.openxmlformats.org/officeDocument/2006/relationships/notesSlide"/><Relationship Id="rId45" Target="notesSlides/notesSlide16.xml" Type="http://schemas.openxmlformats.org/officeDocument/2006/relationships/notesSlid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Sympathise with Accidental churn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Sympathise with Accidental churn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Sympathise with Accidental churn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Sympathise with Accidental churn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Sympathise with Accidental churn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Sympathise with Accidental churn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Sympathise with Accidental churn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Sympathise with Accidental churn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Sympathise with Accidental churn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Sympathise with Accidental churn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Sympathise with Accidental churn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Sympathise with Accidental churn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Sympathise with Accidental churn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Sympathise with Accidental churn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Sympathise with Accidental churn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Sympathise with Accidental churn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5.png" Type="http://schemas.openxmlformats.org/officeDocument/2006/relationships/image"/><Relationship Id="rId6" Target="../media/image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6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7.png" Type="http://schemas.openxmlformats.org/officeDocument/2006/relationships/image"/><Relationship Id="rId6" Target="../media/image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8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9.png" Type="http://schemas.openxmlformats.org/officeDocument/2006/relationships/image"/><Relationship Id="rId6" Target="../media/image4.png" Type="http://schemas.openxmlformats.org/officeDocument/2006/relationships/image"/><Relationship Id="rId7" Target="../media/image10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11.png" Type="http://schemas.openxmlformats.org/officeDocument/2006/relationships/image"/><Relationship Id="rId6" Target="../media/image4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12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13.png" Type="http://schemas.openxmlformats.org/officeDocument/2006/relationships/image"/><Relationship Id="rId6" Target="../media/image14.png" Type="http://schemas.openxmlformats.org/officeDocument/2006/relationships/image"/><Relationship Id="rId7" Target="../media/image4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15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16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4.xml" Type="http://schemas.openxmlformats.org/officeDocument/2006/relationships/notesSlid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17.png" Type="http://schemas.openxmlformats.org/officeDocument/2006/relationships/image"/><Relationship Id="rId6" Target="../media/image18.png" Type="http://schemas.openxmlformats.org/officeDocument/2006/relationships/image"/><Relationship Id="rId7" Target="../media/image4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5.xml" Type="http://schemas.openxmlformats.org/officeDocument/2006/relationships/notesSlid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6.xml" Type="http://schemas.openxmlformats.org/officeDocument/2006/relationships/notesSlide"/><Relationship Id="rId3" Target="../media/image4.pn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964077" y="-142086"/>
            <a:ext cx="10721300" cy="11912555"/>
            <a:chOff x="0" y="0"/>
            <a:chExt cx="14295067" cy="15883407"/>
          </a:xfrm>
        </p:grpSpPr>
        <p:sp>
          <p:nvSpPr>
            <p:cNvPr name="Freeform 3" id="3"/>
            <p:cNvSpPr/>
            <p:nvPr/>
          </p:nvSpPr>
          <p:spPr>
            <a:xfrm flipH="false" flipV="true" rot="0">
              <a:off x="0" y="0"/>
              <a:ext cx="14295120" cy="15883382"/>
            </a:xfrm>
            <a:custGeom>
              <a:avLst/>
              <a:gdLst/>
              <a:ahLst/>
              <a:cxnLst/>
              <a:rect r="r" b="b" t="t" l="l"/>
              <a:pathLst>
                <a:path h="15883382" w="14295120">
                  <a:moveTo>
                    <a:pt x="0" y="15883382"/>
                  </a:moveTo>
                  <a:lnTo>
                    <a:pt x="14295120" y="15883382"/>
                  </a:lnTo>
                  <a:lnTo>
                    <a:pt x="14295120" y="0"/>
                  </a:lnTo>
                  <a:lnTo>
                    <a:pt x="0" y="0"/>
                  </a:lnTo>
                  <a:lnTo>
                    <a:pt x="0" y="15883382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2333716" y="2127285"/>
            <a:ext cx="15326535" cy="36869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49"/>
              </a:lnSpc>
            </a:pPr>
            <a:r>
              <a:rPr lang="en-US" b="true" sz="6392">
                <a:solidFill>
                  <a:srgbClr val="660D21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DS-Dynamo: A Datacenter-Aware Distributed Key-Value Store</a:t>
            </a:r>
          </a:p>
          <a:p>
            <a:pPr algn="ctr">
              <a:lnSpc>
                <a:spcPts val="5664"/>
              </a:lnSpc>
            </a:pPr>
            <a:r>
              <a:rPr lang="en-US" b="true" sz="4045">
                <a:solidFill>
                  <a:srgbClr val="660D21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Des</a:t>
            </a:r>
            <a:r>
              <a:rPr lang="en-US" b="true" sz="4045">
                <a:solidFill>
                  <a:srgbClr val="660D21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ign, Implementation, and Evaluation of a Highly Available Storage System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405736" y="7178700"/>
            <a:ext cx="9476528" cy="207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8"/>
              </a:lnSpc>
            </a:pPr>
            <a:r>
              <a:rPr lang="en-US" b="true" sz="3999">
                <a:solidFill>
                  <a:srgbClr val="660D21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Chait</a:t>
            </a:r>
            <a:r>
              <a:rPr lang="en-US" b="true" sz="3999">
                <a:solidFill>
                  <a:srgbClr val="660D21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anya Shah (2023101107)</a:t>
            </a:r>
          </a:p>
          <a:p>
            <a:pPr algn="ctr">
              <a:lnSpc>
                <a:spcPts val="5598"/>
              </a:lnSpc>
            </a:pPr>
            <a:r>
              <a:rPr lang="en-US" b="true" sz="3999">
                <a:solidFill>
                  <a:srgbClr val="660D21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Shail Shah (2023101060)</a:t>
            </a:r>
          </a:p>
          <a:p>
            <a:pPr algn="ctr">
              <a:lnSpc>
                <a:spcPts val="5598"/>
              </a:lnSpc>
            </a:pPr>
            <a:r>
              <a:rPr lang="en-US" b="true" sz="3999">
                <a:solidFill>
                  <a:srgbClr val="660D21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Saiyam Jain (2023101135)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960705">
            <a:off x="-1436616" y="7724775"/>
            <a:ext cx="5006947" cy="4114800"/>
          </a:xfrm>
          <a:custGeom>
            <a:avLst/>
            <a:gdLst/>
            <a:ahLst/>
            <a:cxnLst/>
            <a:rect r="r" b="b" t="t" l="l"/>
            <a:pathLst>
              <a:path h="4114800" w="5006947">
                <a:moveTo>
                  <a:pt x="0" y="0"/>
                </a:moveTo>
                <a:lnTo>
                  <a:pt x="5006947" y="0"/>
                </a:lnTo>
                <a:lnTo>
                  <a:pt x="500694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83" r="0" b="-83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083911" y="4226559"/>
            <a:ext cx="9525" cy="669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439331"/>
            <a:ext cx="13869594" cy="6915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660D21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The Challenge: Correlated Failures in the Cloud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660D21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In massive infrastructures, failure is the normal mode of operation.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660D21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Traditional RDBMS sacrifice availability during partitions (CAP Theorem).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660D21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Latency-sensitive apps (e.g., e-commerce carts) require an "always-writeable" experience</a:t>
            </a:r>
          </a:p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660D21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Problem Statement: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660D21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Standard Consistent Hashing is blind to physical topology.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660D21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Risk: Replicas placed on the same rack or datacenter create a single point of failure.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660D21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Goal: Build a system that guarantees data survival even if an entire Datacenter (DC) goes offline.</a:t>
            </a:r>
          </a:p>
          <a:p>
            <a:pPr algn="l">
              <a:lnSpc>
                <a:spcPts val="4200"/>
              </a:lnSpc>
            </a:pPr>
          </a:p>
        </p:txBody>
      </p:sp>
      <p:grpSp>
        <p:nvGrpSpPr>
          <p:cNvPr name="Group 5" id="5"/>
          <p:cNvGrpSpPr/>
          <p:nvPr/>
        </p:nvGrpSpPr>
        <p:grpSpPr>
          <a:xfrm rot="0">
            <a:off x="13136959" y="0"/>
            <a:ext cx="5151041" cy="4921391"/>
            <a:chOff x="0" y="0"/>
            <a:chExt cx="6868055" cy="6561855"/>
          </a:xfrm>
        </p:grpSpPr>
        <p:sp>
          <p:nvSpPr>
            <p:cNvPr name="Freeform 6" id="6"/>
            <p:cNvSpPr/>
            <p:nvPr/>
          </p:nvSpPr>
          <p:spPr>
            <a:xfrm flipH="true" flipV="true" rot="0">
              <a:off x="0" y="0"/>
              <a:ext cx="6868033" cy="6561836"/>
            </a:xfrm>
            <a:custGeom>
              <a:avLst/>
              <a:gdLst/>
              <a:ahLst/>
              <a:cxnLst/>
              <a:rect r="r" b="b" t="t" l="l"/>
              <a:pathLst>
                <a:path h="6561836" w="6868033">
                  <a:moveTo>
                    <a:pt x="6868033" y="6561836"/>
                  </a:moveTo>
                  <a:lnTo>
                    <a:pt x="0" y="6561836"/>
                  </a:lnTo>
                  <a:lnTo>
                    <a:pt x="0" y="0"/>
                  </a:lnTo>
                  <a:lnTo>
                    <a:pt x="6868033" y="0"/>
                  </a:lnTo>
                  <a:lnTo>
                    <a:pt x="6868033" y="6561836"/>
                  </a:lnTo>
                  <a:close/>
                </a:path>
              </a:pathLst>
            </a:custGeom>
            <a:blipFill>
              <a:blip r:embed="rId5"/>
              <a:stretch>
                <a:fillRect l="-3" t="0" r="-4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1028700" y="500710"/>
            <a:ext cx="17185464" cy="1167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660"/>
              </a:lnSpc>
              <a:spcBef>
                <a:spcPct val="0"/>
              </a:spcBef>
            </a:pPr>
            <a:r>
              <a:rPr lang="en-US" sz="6900" strike="noStrike" u="none">
                <a:solidFill>
                  <a:srgbClr val="660D21"/>
                </a:solidFill>
                <a:latin typeface="Comic Sans"/>
                <a:ea typeface="Comic Sans"/>
                <a:cs typeface="Comic Sans"/>
                <a:sym typeface="Comic Sans"/>
              </a:rPr>
              <a:t>Motivation &amp; Problem Statement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136959" y="0"/>
            <a:ext cx="5151041" cy="4921391"/>
            <a:chOff x="0" y="0"/>
            <a:chExt cx="6868055" cy="6561855"/>
          </a:xfrm>
        </p:grpSpPr>
        <p:sp>
          <p:nvSpPr>
            <p:cNvPr name="Freeform 3" id="3"/>
            <p:cNvSpPr/>
            <p:nvPr/>
          </p:nvSpPr>
          <p:spPr>
            <a:xfrm flipH="true" flipV="true" rot="0">
              <a:off x="0" y="0"/>
              <a:ext cx="6868033" cy="6561836"/>
            </a:xfrm>
            <a:custGeom>
              <a:avLst/>
              <a:gdLst/>
              <a:ahLst/>
              <a:cxnLst/>
              <a:rect r="r" b="b" t="t" l="l"/>
              <a:pathLst>
                <a:path h="6561836" w="6868033">
                  <a:moveTo>
                    <a:pt x="6868033" y="6561836"/>
                  </a:moveTo>
                  <a:lnTo>
                    <a:pt x="0" y="6561836"/>
                  </a:lnTo>
                  <a:lnTo>
                    <a:pt x="0" y="0"/>
                  </a:lnTo>
                  <a:lnTo>
                    <a:pt x="6868033" y="0"/>
                  </a:lnTo>
                  <a:lnTo>
                    <a:pt x="6868033" y="6561836"/>
                  </a:lnTo>
                  <a:close/>
                </a:path>
              </a:pathLst>
            </a:custGeom>
            <a:blipFill>
              <a:blip r:embed="rId2"/>
              <a:stretch>
                <a:fillRect l="-3" t="0" r="-4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28700" y="551434"/>
            <a:ext cx="15939522" cy="1167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660"/>
              </a:lnSpc>
              <a:spcBef>
                <a:spcPct val="0"/>
              </a:spcBef>
            </a:pPr>
            <a:r>
              <a:rPr lang="en-US" sz="6900" strike="noStrike" u="none">
                <a:solidFill>
                  <a:srgbClr val="660D21"/>
                </a:solidFill>
                <a:latin typeface="Comic Sans"/>
                <a:ea typeface="Comic Sans"/>
                <a:cs typeface="Comic Sans"/>
                <a:sym typeface="Comic Sans"/>
              </a:rPr>
              <a:t>System Architecture Overview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2430780"/>
            <a:ext cx="13836806" cy="6827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98826" indent="-399413" lvl="1">
              <a:lnSpc>
                <a:spcPts val="5179"/>
              </a:lnSpc>
              <a:buFont typeface="Arial"/>
              <a:buChar char="•"/>
            </a:pPr>
            <a:r>
              <a:rPr lang="en-US" b="true" sz="3699">
                <a:solidFill>
                  <a:srgbClr val="660D21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DS-Dynamo Architecture Core Components:</a:t>
            </a:r>
          </a:p>
          <a:p>
            <a:pPr algn="l" marL="1381758" indent="-460586" lvl="2">
              <a:lnSpc>
                <a:spcPts val="4479"/>
              </a:lnSpc>
              <a:buFont typeface="Arial"/>
              <a:buChar char="⚬"/>
            </a:pPr>
            <a:r>
              <a:rPr lang="en-US" b="true" sz="3199">
                <a:solidFill>
                  <a:srgbClr val="660D21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Communication: gRPC wit</a:t>
            </a:r>
            <a:r>
              <a:rPr lang="en-US" b="true" sz="3199">
                <a:solidFill>
                  <a:srgbClr val="660D21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h Protobuf for high-performance, structured binary messaging.</a:t>
            </a:r>
          </a:p>
          <a:p>
            <a:pPr algn="l" marL="1381758" indent="-460586" lvl="2">
              <a:lnSpc>
                <a:spcPts val="4479"/>
              </a:lnSpc>
              <a:buFont typeface="Arial"/>
              <a:buChar char="⚬"/>
            </a:pPr>
            <a:r>
              <a:rPr lang="en-US" b="true" sz="3199">
                <a:solidFill>
                  <a:srgbClr val="660D21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Partitioning: Consistent Hashing with Virtual Nodes (100+ per node)</a:t>
            </a:r>
            <a:r>
              <a:rPr lang="en-US" b="true" sz="3199">
                <a:solidFill>
                  <a:srgbClr val="660D21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 for uniform load balancing.</a:t>
            </a:r>
          </a:p>
          <a:p>
            <a:pPr algn="l" marL="1381758" indent="-460586" lvl="2">
              <a:lnSpc>
                <a:spcPts val="4479"/>
              </a:lnSpc>
              <a:buFont typeface="Arial"/>
              <a:buChar char="⚬"/>
            </a:pPr>
            <a:r>
              <a:rPr lang="en-US" b="true" sz="3199">
                <a:solidFill>
                  <a:srgbClr val="660D21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Versioning: Vector Clocks to track causality and detect concurrent updates.</a:t>
            </a:r>
          </a:p>
          <a:p>
            <a:pPr algn="l" marL="1381758" indent="-460586" lvl="2">
              <a:lnSpc>
                <a:spcPts val="4479"/>
              </a:lnSpc>
              <a:buFont typeface="Arial"/>
              <a:buChar char="⚬"/>
            </a:pPr>
            <a:r>
              <a:rPr lang="en-US" b="true" sz="3199">
                <a:solidFill>
                  <a:srgbClr val="660D21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Storage: In-memory dictionary with thread-safe locking (simulating </a:t>
            </a:r>
            <a:r>
              <a:rPr lang="en-US" b="true" sz="3199">
                <a:solidFill>
                  <a:srgbClr val="660D21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high-speed cache).</a:t>
            </a:r>
          </a:p>
          <a:p>
            <a:pPr algn="l" marL="1381758" indent="-460586" lvl="2">
              <a:lnSpc>
                <a:spcPts val="4479"/>
              </a:lnSpc>
              <a:buFont typeface="Arial"/>
              <a:buChar char="⚬"/>
            </a:pPr>
            <a:r>
              <a:rPr lang="en-US" b="true" sz="3199">
                <a:solidFill>
                  <a:srgbClr val="660D21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M</a:t>
            </a:r>
            <a:r>
              <a:rPr lang="en-US" b="true" sz="3199">
                <a:solidFill>
                  <a:srgbClr val="660D21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embership: Gossip protocol for eventual stability in large clusters.</a:t>
            </a:r>
          </a:p>
          <a:p>
            <a:pPr algn="l">
              <a:lnSpc>
                <a:spcPts val="4479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136959" y="0"/>
            <a:ext cx="5151041" cy="4921391"/>
            <a:chOff x="0" y="0"/>
            <a:chExt cx="6868055" cy="6561855"/>
          </a:xfrm>
        </p:grpSpPr>
        <p:sp>
          <p:nvSpPr>
            <p:cNvPr name="Freeform 3" id="3"/>
            <p:cNvSpPr/>
            <p:nvPr/>
          </p:nvSpPr>
          <p:spPr>
            <a:xfrm flipH="true" flipV="true" rot="0">
              <a:off x="0" y="0"/>
              <a:ext cx="6868033" cy="6561836"/>
            </a:xfrm>
            <a:custGeom>
              <a:avLst/>
              <a:gdLst/>
              <a:ahLst/>
              <a:cxnLst/>
              <a:rect r="r" b="b" t="t" l="l"/>
              <a:pathLst>
                <a:path h="6561836" w="6868033">
                  <a:moveTo>
                    <a:pt x="6868033" y="6561836"/>
                  </a:moveTo>
                  <a:lnTo>
                    <a:pt x="0" y="6561836"/>
                  </a:lnTo>
                  <a:lnTo>
                    <a:pt x="0" y="0"/>
                  </a:lnTo>
                  <a:lnTo>
                    <a:pt x="6868033" y="0"/>
                  </a:lnTo>
                  <a:lnTo>
                    <a:pt x="6868033" y="6561836"/>
                  </a:lnTo>
                  <a:close/>
                </a:path>
              </a:pathLst>
            </a:custGeom>
            <a:blipFill>
              <a:blip r:embed="rId2"/>
              <a:stretch>
                <a:fillRect l="-3" t="0" r="-4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960852" y="670765"/>
            <a:ext cx="16298448" cy="1167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660"/>
              </a:lnSpc>
              <a:spcBef>
                <a:spcPct val="0"/>
              </a:spcBef>
            </a:pPr>
            <a:r>
              <a:rPr lang="en-US" b="true" sz="6900" strike="noStrike" u="none">
                <a:solidFill>
                  <a:srgbClr val="660D21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Datacenter-Aware Replication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60852" y="2269979"/>
            <a:ext cx="13836806" cy="7484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98826" indent="-399413" lvl="1">
              <a:lnSpc>
                <a:spcPts val="5179"/>
              </a:lnSpc>
              <a:buFont typeface="Arial"/>
              <a:buChar char="•"/>
            </a:pPr>
            <a:r>
              <a:rPr lang="en-US" b="true" sz="3699">
                <a:solidFill>
                  <a:srgbClr val="660D21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The Core Innovation: Topology-Aware Placement Algorithm:</a:t>
            </a:r>
          </a:p>
          <a:p>
            <a:pPr algn="l" marL="1381758" indent="-460586" lvl="2">
              <a:lnSpc>
                <a:spcPts val="4479"/>
              </a:lnSpc>
              <a:buFont typeface="Arial"/>
              <a:buChar char="⚬"/>
            </a:pPr>
            <a:r>
              <a:rPr lang="en-US" b="true" sz="3199">
                <a:solidFill>
                  <a:srgbClr val="660D21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Coordinato</a:t>
            </a:r>
            <a:r>
              <a:rPr lang="en-US" b="true" sz="3199">
                <a:solidFill>
                  <a:srgbClr val="660D21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r receives a write request.</a:t>
            </a:r>
          </a:p>
          <a:p>
            <a:pPr algn="l" marL="1381758" indent="-460586" lvl="2">
              <a:lnSpc>
                <a:spcPts val="4479"/>
              </a:lnSpc>
              <a:buFont typeface="Arial"/>
              <a:buChar char="⚬"/>
            </a:pPr>
            <a:r>
              <a:rPr lang="en-US" b="true" sz="3199">
                <a:solidFill>
                  <a:srgbClr val="660D21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W</a:t>
            </a:r>
            <a:r>
              <a:rPr lang="en-US" b="true" sz="3199">
                <a:solidFill>
                  <a:srgbClr val="660D21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alks the Ring: Instead of picking the next N ne</a:t>
            </a:r>
            <a:r>
              <a:rPr lang="en-US" b="true" sz="3199">
                <a:solidFill>
                  <a:srgbClr val="660D21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ighbors blindly.</a:t>
            </a:r>
          </a:p>
          <a:p>
            <a:pPr algn="l" marL="1381758" indent="-460586" lvl="2">
              <a:lnSpc>
                <a:spcPts val="4479"/>
              </a:lnSpc>
              <a:buFont typeface="Arial"/>
              <a:buChar char="⚬"/>
            </a:pPr>
            <a:r>
              <a:rPr lang="en-US" b="true" sz="3199">
                <a:solidFill>
                  <a:srgbClr val="660D21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Constraint: Skips nodes that reside in the same physical datacenter as already select</a:t>
            </a:r>
            <a:r>
              <a:rPr lang="en-US" b="true" sz="3199">
                <a:solidFill>
                  <a:srgbClr val="660D21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ed replicas.</a:t>
            </a:r>
          </a:p>
          <a:p>
            <a:pPr algn="l" marL="1381758" indent="-460586" lvl="2">
              <a:lnSpc>
                <a:spcPts val="4479"/>
              </a:lnSpc>
              <a:buFont typeface="Arial"/>
              <a:buChar char="⚬"/>
            </a:pPr>
            <a:r>
              <a:rPr lang="en-US" b="true" sz="3199">
                <a:solidFill>
                  <a:srgbClr val="660D21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R</a:t>
            </a:r>
            <a:r>
              <a:rPr lang="en-US" b="true" sz="3199">
                <a:solidFill>
                  <a:srgbClr val="660D21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esult: Replicas are forced into distinct failure domains (DC1, DC2, DC3).</a:t>
            </a:r>
          </a:p>
          <a:p>
            <a:pPr algn="l" marL="690879" indent="-345439" lvl="1">
              <a:lnSpc>
                <a:spcPts val="4479"/>
              </a:lnSpc>
              <a:buFont typeface="Arial"/>
              <a:buChar char="•"/>
            </a:pPr>
            <a:r>
              <a:rPr lang="en-US" b="true" sz="3199">
                <a:solidFill>
                  <a:srgbClr val="660D21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Impact:</a:t>
            </a:r>
          </a:p>
          <a:p>
            <a:pPr algn="l" marL="1381758" indent="-460586" lvl="2">
              <a:lnSpc>
                <a:spcPts val="4479"/>
              </a:lnSpc>
              <a:buFont typeface="Arial"/>
              <a:buChar char="⚬"/>
            </a:pPr>
            <a:r>
              <a:rPr lang="en-US" b="true" sz="3199">
                <a:solidFill>
                  <a:srgbClr val="660D21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Guarantees survival of complete DC failure.</a:t>
            </a:r>
          </a:p>
          <a:p>
            <a:pPr algn="l" marL="1381758" indent="-460586" lvl="2">
              <a:lnSpc>
                <a:spcPts val="4479"/>
              </a:lnSpc>
              <a:buFont typeface="Arial"/>
              <a:buChar char="⚬"/>
            </a:pPr>
            <a:r>
              <a:rPr lang="en-US" b="true" sz="3199">
                <a:solidFill>
                  <a:srgbClr val="660D21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Maintains O(1) routing efficiency.</a:t>
            </a:r>
          </a:p>
          <a:p>
            <a:pPr algn="l">
              <a:lnSpc>
                <a:spcPts val="4479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960705">
            <a:off x="-1436616" y="7724775"/>
            <a:ext cx="5006947" cy="4114800"/>
          </a:xfrm>
          <a:custGeom>
            <a:avLst/>
            <a:gdLst/>
            <a:ahLst/>
            <a:cxnLst/>
            <a:rect r="r" b="b" t="t" l="l"/>
            <a:pathLst>
              <a:path h="4114800" w="5006947">
                <a:moveTo>
                  <a:pt x="0" y="0"/>
                </a:moveTo>
                <a:lnTo>
                  <a:pt x="5006947" y="0"/>
                </a:lnTo>
                <a:lnTo>
                  <a:pt x="500694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83" r="0" b="-8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136959" y="0"/>
            <a:ext cx="5151041" cy="4921391"/>
            <a:chOff x="0" y="0"/>
            <a:chExt cx="6868055" cy="6561855"/>
          </a:xfrm>
        </p:grpSpPr>
        <p:sp>
          <p:nvSpPr>
            <p:cNvPr name="Freeform 4" id="4"/>
            <p:cNvSpPr/>
            <p:nvPr/>
          </p:nvSpPr>
          <p:spPr>
            <a:xfrm flipH="true" flipV="true" rot="0">
              <a:off x="0" y="0"/>
              <a:ext cx="6868033" cy="6561836"/>
            </a:xfrm>
            <a:custGeom>
              <a:avLst/>
              <a:gdLst/>
              <a:ahLst/>
              <a:cxnLst/>
              <a:rect r="r" b="b" t="t" l="l"/>
              <a:pathLst>
                <a:path h="6561836" w="6868033">
                  <a:moveTo>
                    <a:pt x="6868033" y="6561836"/>
                  </a:moveTo>
                  <a:lnTo>
                    <a:pt x="0" y="6561836"/>
                  </a:lnTo>
                  <a:lnTo>
                    <a:pt x="0" y="0"/>
                  </a:lnTo>
                  <a:lnTo>
                    <a:pt x="6868033" y="0"/>
                  </a:lnTo>
                  <a:lnTo>
                    <a:pt x="6868033" y="6561836"/>
                  </a:lnTo>
                  <a:close/>
                </a:path>
              </a:pathLst>
            </a:custGeom>
            <a:blipFill>
              <a:blip r:embed="rId5"/>
              <a:stretch>
                <a:fillRect l="-3" t="0" r="-4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837608" y="2347256"/>
            <a:ext cx="15907342" cy="7175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b="true" sz="3500">
                <a:solidFill>
                  <a:srgbClr val="660D21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Consiste</a:t>
            </a:r>
            <a:r>
              <a:rPr lang="en-US" b="true" sz="3500">
                <a:solidFill>
                  <a:srgbClr val="660D21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ncy vs. Availability Trade-offs The (N, R, W) Quorum System:⁠</a:t>
            </a:r>
          </a:p>
          <a:p>
            <a:pPr algn="l" marL="1295406" indent="-431802" lvl="2">
              <a:lnSpc>
                <a:spcPts val="4200"/>
              </a:lnSpc>
              <a:buFont typeface="Arial"/>
              <a:buChar char="⚬"/>
            </a:pPr>
            <a:r>
              <a:rPr lang="en-US" b="true" sz="3000">
                <a:solidFill>
                  <a:srgbClr val="660D21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N: Replication Factor (usually 3).</a:t>
            </a:r>
          </a:p>
          <a:p>
            <a:pPr algn="l" marL="1295406" indent="-431802" lvl="2">
              <a:lnSpc>
                <a:spcPts val="4200"/>
              </a:lnSpc>
              <a:buFont typeface="Arial"/>
              <a:buChar char="⚬"/>
            </a:pPr>
            <a:r>
              <a:rPr lang="en-US" b="true" sz="3000">
                <a:solidFill>
                  <a:srgbClr val="660D21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W: Write Quorum (minimum acks to succeed).</a:t>
            </a:r>
          </a:p>
          <a:p>
            <a:pPr algn="l" marL="1295406" indent="-431802" lvl="2">
              <a:lnSpc>
                <a:spcPts val="4200"/>
              </a:lnSpc>
              <a:buFont typeface="Arial"/>
              <a:buChar char="⚬"/>
            </a:pPr>
            <a:r>
              <a:rPr lang="en-US" b="true" sz="3000">
                <a:solidFill>
                  <a:srgbClr val="660D21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R: Read Quorum (minimum nodes to consult).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b="true" sz="3500">
                <a:solidFill>
                  <a:srgbClr val="660D21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Configuration Strategy:</a:t>
            </a:r>
          </a:p>
          <a:p>
            <a:pPr algn="l" marL="1295406" indent="-431802" lvl="2">
              <a:lnSpc>
                <a:spcPts val="4200"/>
              </a:lnSpc>
              <a:buFont typeface="Arial"/>
              <a:buChar char="⚬"/>
            </a:pPr>
            <a:r>
              <a:rPr lang="en-US" b="true" sz="3000">
                <a:solidFill>
                  <a:srgbClr val="660D21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S</a:t>
            </a:r>
            <a:r>
              <a:rPr lang="en-US" b="true" sz="3000">
                <a:solidFill>
                  <a:srgbClr val="660D21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trong Consistency: W + R &gt; N (e.g., W=2, R=2).</a:t>
            </a:r>
          </a:p>
          <a:p>
            <a:pPr algn="l" marL="1295406" indent="-431802" lvl="2">
              <a:lnSpc>
                <a:spcPts val="4200"/>
              </a:lnSpc>
              <a:buFont typeface="Arial"/>
              <a:buChar char="⚬"/>
            </a:pPr>
            <a:r>
              <a:rPr lang="en-US" b="true" sz="3000">
                <a:solidFill>
                  <a:srgbClr val="660D21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High Availability: W &lt; N (e.g.,</a:t>
            </a:r>
            <a:r>
              <a:rPr lang="en-US" b="true" sz="3000">
                <a:solidFill>
                  <a:srgbClr val="660D21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 W=1).</a:t>
            </a:r>
          </a:p>
          <a:p>
            <a:pPr algn="l" marL="1295406" indent="-431802" lvl="2">
              <a:lnSpc>
                <a:spcPts val="4200"/>
              </a:lnSpc>
              <a:buFont typeface="Arial"/>
              <a:buChar char="⚬"/>
            </a:pPr>
            <a:r>
              <a:rPr lang="en-US" b="true" sz="3000">
                <a:solidFill>
                  <a:srgbClr val="660D21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Our Default: Asynchronous W-Quorum (W=2).</a:t>
            </a:r>
          </a:p>
          <a:p>
            <a:pPr algn="l" marL="1943110" indent="-485777" lvl="3">
              <a:lnSpc>
                <a:spcPts val="4200"/>
              </a:lnSpc>
              <a:buFont typeface="Arial"/>
              <a:buChar char="￭"/>
            </a:pPr>
            <a:r>
              <a:rPr lang="en-US" b="true" sz="3000">
                <a:solidFill>
                  <a:srgbClr val="660D21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Coordinator returns "Success" after 2 acks.</a:t>
            </a:r>
          </a:p>
          <a:p>
            <a:pPr algn="l" marL="1943110" indent="-485777" lvl="3">
              <a:lnSpc>
                <a:spcPts val="4200"/>
              </a:lnSpc>
              <a:buFont typeface="Arial"/>
              <a:buChar char="￭"/>
            </a:pPr>
            <a:r>
              <a:rPr lang="en-US" b="true" sz="3000">
                <a:solidFill>
                  <a:srgbClr val="660D21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3rd replica updated in background.</a:t>
            </a:r>
          </a:p>
          <a:p>
            <a:pPr algn="l" marL="1943110" indent="-485777" lvl="3">
              <a:lnSpc>
                <a:spcPts val="4200"/>
              </a:lnSpc>
              <a:buFont typeface="Arial"/>
              <a:buChar char="￭"/>
            </a:pPr>
            <a:r>
              <a:rPr lang="en-US" b="true" sz="3000">
                <a:solidFill>
                  <a:srgbClr val="660D21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Masks "straggler" latency.</a:t>
            </a:r>
          </a:p>
          <a:p>
            <a:pPr algn="ctr">
              <a:lnSpc>
                <a:spcPts val="4200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837608" y="552740"/>
            <a:ext cx="17230589" cy="1167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660"/>
              </a:lnSpc>
              <a:spcBef>
                <a:spcPct val="0"/>
              </a:spcBef>
            </a:pPr>
            <a:r>
              <a:rPr lang="en-US" b="true" sz="6900" strike="noStrike" u="none">
                <a:solidFill>
                  <a:srgbClr val="660D21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Consistency Model &amp; Tunable Quorums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960705">
            <a:off x="-1436616" y="7724775"/>
            <a:ext cx="5006947" cy="4114800"/>
          </a:xfrm>
          <a:custGeom>
            <a:avLst/>
            <a:gdLst/>
            <a:ahLst/>
            <a:cxnLst/>
            <a:rect r="r" b="b" t="t" l="l"/>
            <a:pathLst>
              <a:path h="4114800" w="5006947">
                <a:moveTo>
                  <a:pt x="0" y="0"/>
                </a:moveTo>
                <a:lnTo>
                  <a:pt x="5006947" y="0"/>
                </a:lnTo>
                <a:lnTo>
                  <a:pt x="500694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83" r="0" b="-83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8594" y="904875"/>
            <a:ext cx="15939522" cy="1167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660"/>
              </a:lnSpc>
              <a:spcBef>
                <a:spcPct val="0"/>
              </a:spcBef>
            </a:pPr>
            <a:r>
              <a:rPr lang="en-US" b="true" sz="6900" strike="noStrike" u="none">
                <a:solidFill>
                  <a:srgbClr val="660D21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Fault Tolerance Mechanisms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66857" y="2711450"/>
            <a:ext cx="16744950" cy="602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b="true" sz="3500">
                <a:solidFill>
                  <a:srgbClr val="660D21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 Sloppy Quorum &amp; Hinted Handoff:</a:t>
            </a:r>
          </a:p>
          <a:p>
            <a:pPr algn="l" marL="1295406" indent="-431802" lvl="2">
              <a:lnSpc>
                <a:spcPts val="4200"/>
              </a:lnSpc>
              <a:buFont typeface="Arial"/>
              <a:buChar char="⚬"/>
            </a:pPr>
            <a:r>
              <a:rPr lang="en-US" b="true" sz="3000">
                <a:solidFill>
                  <a:srgbClr val="660D21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⁠If a preferred node is down, write to a "fallback" node.</a:t>
            </a:r>
          </a:p>
          <a:p>
            <a:pPr algn="l" marL="1295406" indent="-431802" lvl="2">
              <a:lnSpc>
                <a:spcPts val="4200"/>
              </a:lnSpc>
              <a:buFont typeface="Arial"/>
              <a:buChar char="⚬"/>
            </a:pPr>
            <a:r>
              <a:rPr lang="en-US" b="true" sz="3000">
                <a:solidFill>
                  <a:srgbClr val="660D21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S</a:t>
            </a:r>
            <a:r>
              <a:rPr lang="en-US" b="true" sz="3000">
                <a:solidFill>
                  <a:srgbClr val="660D21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tore a Hint alongsid</a:t>
            </a:r>
            <a:r>
              <a:rPr lang="en-US" b="true" sz="3000">
                <a:solidFill>
                  <a:srgbClr val="660D21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e the data.</a:t>
            </a:r>
          </a:p>
          <a:p>
            <a:pPr algn="l" marL="1295406" indent="-431802" lvl="2">
              <a:lnSpc>
                <a:spcPts val="4200"/>
              </a:lnSpc>
              <a:buFont typeface="Arial"/>
              <a:buChar char="⚬"/>
            </a:pPr>
            <a:r>
              <a:rPr lang="en-US" b="true" sz="3000">
                <a:solidFill>
                  <a:srgbClr val="660D21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Self-Healing: When the original node recovers, the fallback node forwards the data automatically.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b="true" sz="3500">
                <a:solidFill>
                  <a:srgbClr val="660D21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Read Repair (Anti-Entropy):</a:t>
            </a:r>
          </a:p>
          <a:p>
            <a:pPr algn="l" marL="1295406" indent="-431802" lvl="2">
              <a:lnSpc>
                <a:spcPts val="4200"/>
              </a:lnSpc>
              <a:buFont typeface="Arial"/>
              <a:buChar char="⚬"/>
            </a:pPr>
            <a:r>
              <a:rPr lang="en-US" b="true" sz="3000">
                <a:solidFill>
                  <a:srgbClr val="660D21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Passive Repair: Occurs during Client Reads.</a:t>
            </a:r>
          </a:p>
          <a:p>
            <a:pPr algn="l" marL="1295406" indent="-431802" lvl="2">
              <a:lnSpc>
                <a:spcPts val="4200"/>
              </a:lnSpc>
              <a:buFont typeface="Arial"/>
              <a:buChar char="⚬"/>
            </a:pPr>
            <a:r>
              <a:rPr lang="en-US" b="true" sz="3000">
                <a:solidFill>
                  <a:srgbClr val="660D21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Coordinator detects stale versions via Vector Clocks.</a:t>
            </a:r>
          </a:p>
          <a:p>
            <a:pPr algn="l" marL="1295406" indent="-431802" lvl="2">
              <a:lnSpc>
                <a:spcPts val="4200"/>
              </a:lnSpc>
              <a:buFont typeface="Arial"/>
              <a:buChar char="⚬"/>
            </a:pPr>
            <a:r>
              <a:rPr lang="en-US" b="true" sz="3000">
                <a:solidFill>
                  <a:srgbClr val="660D21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Action: Background thread pushes the l</a:t>
            </a:r>
            <a:r>
              <a:rPr lang="en-US" b="true" sz="3000">
                <a:solidFill>
                  <a:srgbClr val="660D21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atest version to the stale node.</a:t>
            </a:r>
          </a:p>
          <a:p>
            <a:pPr algn="l">
              <a:lnSpc>
                <a:spcPts val="4200"/>
              </a:lnSpc>
            </a:pPr>
          </a:p>
          <a:p>
            <a:pPr algn="ctr">
              <a:lnSpc>
                <a:spcPts val="4200"/>
              </a:lnSpc>
            </a:pPr>
          </a:p>
        </p:txBody>
      </p:sp>
      <p:grpSp>
        <p:nvGrpSpPr>
          <p:cNvPr name="Group 5" id="5"/>
          <p:cNvGrpSpPr/>
          <p:nvPr/>
        </p:nvGrpSpPr>
        <p:grpSpPr>
          <a:xfrm rot="0">
            <a:off x="13136959" y="0"/>
            <a:ext cx="5151041" cy="4921391"/>
            <a:chOff x="0" y="0"/>
            <a:chExt cx="6868055" cy="6561855"/>
          </a:xfrm>
        </p:grpSpPr>
        <p:sp>
          <p:nvSpPr>
            <p:cNvPr name="Freeform 6" id="6"/>
            <p:cNvSpPr/>
            <p:nvPr/>
          </p:nvSpPr>
          <p:spPr>
            <a:xfrm flipH="true" flipV="true" rot="0">
              <a:off x="0" y="0"/>
              <a:ext cx="6868033" cy="6561836"/>
            </a:xfrm>
            <a:custGeom>
              <a:avLst/>
              <a:gdLst/>
              <a:ahLst/>
              <a:cxnLst/>
              <a:rect r="r" b="b" t="t" l="l"/>
              <a:pathLst>
                <a:path h="6561836" w="6868033">
                  <a:moveTo>
                    <a:pt x="6868033" y="6561836"/>
                  </a:moveTo>
                  <a:lnTo>
                    <a:pt x="0" y="6561836"/>
                  </a:lnTo>
                  <a:lnTo>
                    <a:pt x="0" y="0"/>
                  </a:lnTo>
                  <a:lnTo>
                    <a:pt x="6868033" y="0"/>
                  </a:lnTo>
                  <a:lnTo>
                    <a:pt x="6868033" y="6561836"/>
                  </a:lnTo>
                  <a:close/>
                </a:path>
              </a:pathLst>
            </a:custGeom>
            <a:blipFill>
              <a:blip r:embed="rId5"/>
              <a:stretch>
                <a:fillRect l="-3" t="0" r="-4" b="0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960705">
            <a:off x="-1436616" y="7724775"/>
            <a:ext cx="5006947" cy="4114800"/>
          </a:xfrm>
          <a:custGeom>
            <a:avLst/>
            <a:gdLst/>
            <a:ahLst/>
            <a:cxnLst/>
            <a:rect r="r" b="b" t="t" l="l"/>
            <a:pathLst>
              <a:path h="4114800" w="5006947">
                <a:moveTo>
                  <a:pt x="0" y="0"/>
                </a:moveTo>
                <a:lnTo>
                  <a:pt x="5006947" y="0"/>
                </a:lnTo>
                <a:lnTo>
                  <a:pt x="500694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83" r="0" b="-8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52507" y="2165094"/>
            <a:ext cx="9632254" cy="5956813"/>
          </a:xfrm>
          <a:custGeom>
            <a:avLst/>
            <a:gdLst/>
            <a:ahLst/>
            <a:cxnLst/>
            <a:rect r="r" b="b" t="t" l="l"/>
            <a:pathLst>
              <a:path h="5956813" w="9632254">
                <a:moveTo>
                  <a:pt x="0" y="0"/>
                </a:moveTo>
                <a:lnTo>
                  <a:pt x="9632254" y="0"/>
                </a:lnTo>
                <a:lnTo>
                  <a:pt x="9632254" y="5956812"/>
                </a:lnTo>
                <a:lnTo>
                  <a:pt x="0" y="595681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-138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3136959" y="0"/>
            <a:ext cx="5151041" cy="4921391"/>
            <a:chOff x="0" y="0"/>
            <a:chExt cx="6868055" cy="6561855"/>
          </a:xfrm>
        </p:grpSpPr>
        <p:sp>
          <p:nvSpPr>
            <p:cNvPr name="Freeform 5" id="5"/>
            <p:cNvSpPr/>
            <p:nvPr/>
          </p:nvSpPr>
          <p:spPr>
            <a:xfrm flipH="true" flipV="true" rot="0">
              <a:off x="0" y="0"/>
              <a:ext cx="6868033" cy="6561836"/>
            </a:xfrm>
            <a:custGeom>
              <a:avLst/>
              <a:gdLst/>
              <a:ahLst/>
              <a:cxnLst/>
              <a:rect r="r" b="b" t="t" l="l"/>
              <a:pathLst>
                <a:path h="6561836" w="6868033">
                  <a:moveTo>
                    <a:pt x="6868033" y="6561836"/>
                  </a:moveTo>
                  <a:lnTo>
                    <a:pt x="0" y="6561836"/>
                  </a:lnTo>
                  <a:lnTo>
                    <a:pt x="0" y="0"/>
                  </a:lnTo>
                  <a:lnTo>
                    <a:pt x="6868033" y="0"/>
                  </a:lnTo>
                  <a:lnTo>
                    <a:pt x="6868033" y="6561836"/>
                  </a:lnTo>
                  <a:close/>
                </a:path>
              </a:pathLst>
            </a:custGeom>
            <a:blipFill>
              <a:blip r:embed="rId6"/>
              <a:stretch>
                <a:fillRect l="-3" t="0" r="-4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259386" y="2598124"/>
            <a:ext cx="6999914" cy="5595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1067" indent="-345533" lvl="1">
              <a:lnSpc>
                <a:spcPts val="4481"/>
              </a:lnSpc>
              <a:buFont typeface="Arial"/>
              <a:buChar char="•"/>
            </a:pPr>
            <a:r>
              <a:rPr lang="en-US" b="true" sz="3200">
                <a:solidFill>
                  <a:srgbClr val="660D21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Scenari</a:t>
            </a:r>
            <a:r>
              <a:rPr lang="en-US" b="true" sz="3200">
                <a:solidFill>
                  <a:srgbClr val="660D21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o: Killed Datacenter 1 at t=5s.</a:t>
            </a:r>
          </a:p>
          <a:p>
            <a:pPr algn="l" marL="691067" indent="-345533" lvl="1">
              <a:lnSpc>
                <a:spcPts val="4481"/>
              </a:lnSpc>
              <a:buFont typeface="Arial"/>
              <a:buChar char="•"/>
            </a:pPr>
            <a:r>
              <a:rPr lang="en-US" b="true" sz="3200">
                <a:solidFill>
                  <a:srgbClr val="660D21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Naive Strategy (Red): Success rate drops immediately (The "Cliff"). Data localized in DC1 is lost.</a:t>
            </a:r>
          </a:p>
          <a:p>
            <a:pPr algn="l" marL="691067" indent="-345533" lvl="1">
              <a:lnSpc>
                <a:spcPts val="4481"/>
              </a:lnSpc>
              <a:buFont typeface="Arial"/>
              <a:buChar char="•"/>
            </a:pPr>
            <a:r>
              <a:rPr lang="en-US" b="true" sz="3200">
                <a:solidFill>
                  <a:srgbClr val="660D21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DC-Aware Strategy (Green): 100% Availability. Every key had surviving replicas in DC2/DC3.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14350" y="594854"/>
            <a:ext cx="17209419" cy="845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921"/>
              </a:lnSpc>
              <a:spcBef>
                <a:spcPct val="0"/>
              </a:spcBef>
            </a:pPr>
            <a:r>
              <a:rPr lang="en-US" b="true" sz="4944" strike="noStrike" u="none">
                <a:solidFill>
                  <a:srgbClr val="660D21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Experimental Results: Availability Cliff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960705">
            <a:off x="-1436616" y="7724775"/>
            <a:ext cx="5006947" cy="4114800"/>
          </a:xfrm>
          <a:custGeom>
            <a:avLst/>
            <a:gdLst/>
            <a:ahLst/>
            <a:cxnLst/>
            <a:rect r="r" b="b" t="t" l="l"/>
            <a:pathLst>
              <a:path h="4114800" w="5006947">
                <a:moveTo>
                  <a:pt x="0" y="0"/>
                </a:moveTo>
                <a:lnTo>
                  <a:pt x="5006947" y="0"/>
                </a:lnTo>
                <a:lnTo>
                  <a:pt x="500694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83" r="0" b="-8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136959" y="0"/>
            <a:ext cx="5151041" cy="4921391"/>
            <a:chOff x="0" y="0"/>
            <a:chExt cx="6868055" cy="6561855"/>
          </a:xfrm>
        </p:grpSpPr>
        <p:sp>
          <p:nvSpPr>
            <p:cNvPr name="Freeform 4" id="4"/>
            <p:cNvSpPr/>
            <p:nvPr/>
          </p:nvSpPr>
          <p:spPr>
            <a:xfrm flipH="true" flipV="true" rot="0">
              <a:off x="0" y="0"/>
              <a:ext cx="6868033" cy="6561836"/>
            </a:xfrm>
            <a:custGeom>
              <a:avLst/>
              <a:gdLst/>
              <a:ahLst/>
              <a:cxnLst/>
              <a:rect r="r" b="b" t="t" l="l"/>
              <a:pathLst>
                <a:path h="6561836" w="6868033">
                  <a:moveTo>
                    <a:pt x="6868033" y="6561836"/>
                  </a:moveTo>
                  <a:lnTo>
                    <a:pt x="0" y="6561836"/>
                  </a:lnTo>
                  <a:lnTo>
                    <a:pt x="0" y="0"/>
                  </a:lnTo>
                  <a:lnTo>
                    <a:pt x="6868033" y="0"/>
                  </a:lnTo>
                  <a:lnTo>
                    <a:pt x="6868033" y="6561836"/>
                  </a:lnTo>
                  <a:close/>
                </a:path>
              </a:pathLst>
            </a:custGeom>
            <a:blipFill>
              <a:blip r:embed="rId5"/>
              <a:stretch>
                <a:fillRect l="-3" t="0" r="-4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1066858" y="2611118"/>
            <a:ext cx="8441275" cy="5064765"/>
          </a:xfrm>
          <a:custGeom>
            <a:avLst/>
            <a:gdLst/>
            <a:ahLst/>
            <a:cxnLst/>
            <a:rect r="r" b="b" t="t" l="l"/>
            <a:pathLst>
              <a:path h="5064765" w="8441275">
                <a:moveTo>
                  <a:pt x="0" y="0"/>
                </a:moveTo>
                <a:lnTo>
                  <a:pt x="8441274" y="0"/>
                </a:lnTo>
                <a:lnTo>
                  <a:pt x="8441274" y="5064764"/>
                </a:lnTo>
                <a:lnTo>
                  <a:pt x="0" y="506476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9824177" y="2095830"/>
            <a:ext cx="7435123" cy="67195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1067" indent="-345533" lvl="1">
              <a:lnSpc>
                <a:spcPts val="4481"/>
              </a:lnSpc>
              <a:buFont typeface="Arial"/>
              <a:buChar char="•"/>
            </a:pPr>
            <a:r>
              <a:rPr lang="en-US" b="true" sz="3200">
                <a:solidFill>
                  <a:srgbClr val="660D21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Scenario: Evaluated replica diversity across 10 datacenters (N=3), comparing standard consistent hashing against a topology-aware strategy.</a:t>
            </a:r>
          </a:p>
          <a:p>
            <a:pPr algn="l" marL="691067" indent="-345533" lvl="1">
              <a:lnSpc>
                <a:spcPts val="4481"/>
              </a:lnSpc>
              <a:buFont typeface="Arial"/>
              <a:buChar char="•"/>
            </a:pPr>
            <a:r>
              <a:rPr lang="en-US" b="true" sz="3200">
                <a:solidFill>
                  <a:srgbClr val="660D21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Observation: Passive ring walking is insufficient for fault tolerance; the system must actively skip nodes to guarantee that a single datacenter outage never compromises the majority quorum.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14350" y="594854"/>
            <a:ext cx="17209419" cy="845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921"/>
              </a:lnSpc>
              <a:spcBef>
                <a:spcPct val="0"/>
              </a:spcBef>
            </a:pPr>
            <a:r>
              <a:rPr lang="en-US" b="true" sz="4944" strike="noStrike" u="none">
                <a:solidFill>
                  <a:srgbClr val="660D21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Experimental Results: D</a:t>
            </a:r>
            <a:r>
              <a:rPr lang="en-US" b="true" sz="4944" strike="noStrike" u="none">
                <a:solidFill>
                  <a:srgbClr val="660D21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i</a:t>
            </a:r>
            <a:r>
              <a:rPr lang="en-US" b="true" sz="4944" strike="noStrike" u="none">
                <a:solidFill>
                  <a:srgbClr val="660D21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str</a:t>
            </a:r>
            <a:r>
              <a:rPr lang="en-US" b="true" sz="4944" strike="noStrike" u="none">
                <a:solidFill>
                  <a:srgbClr val="660D21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i</a:t>
            </a:r>
            <a:r>
              <a:rPr lang="en-US" b="true" sz="4944" strike="noStrike" u="none">
                <a:solidFill>
                  <a:srgbClr val="660D21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bu</a:t>
            </a:r>
            <a:r>
              <a:rPr lang="en-US" b="true" sz="4944" strike="noStrike" u="none">
                <a:solidFill>
                  <a:srgbClr val="660D21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ti</a:t>
            </a:r>
            <a:r>
              <a:rPr lang="en-US" b="true" sz="4944" strike="noStrike" u="none">
                <a:solidFill>
                  <a:srgbClr val="660D21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on E</a:t>
            </a:r>
            <a:r>
              <a:rPr lang="en-US" b="true" sz="4944" strike="noStrike" u="none">
                <a:solidFill>
                  <a:srgbClr val="660D21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ff</a:t>
            </a:r>
            <a:r>
              <a:rPr lang="en-US" b="true" sz="4944" strike="noStrike" u="none">
                <a:solidFill>
                  <a:srgbClr val="660D21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iciency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960705">
            <a:off x="-1436616" y="7724775"/>
            <a:ext cx="5006947" cy="4114800"/>
          </a:xfrm>
          <a:custGeom>
            <a:avLst/>
            <a:gdLst/>
            <a:ahLst/>
            <a:cxnLst/>
            <a:rect r="r" b="b" t="t" l="l"/>
            <a:pathLst>
              <a:path h="4114800" w="5006947">
                <a:moveTo>
                  <a:pt x="0" y="0"/>
                </a:moveTo>
                <a:lnTo>
                  <a:pt x="5006947" y="0"/>
                </a:lnTo>
                <a:lnTo>
                  <a:pt x="500694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83" r="0" b="-8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96929" y="2962741"/>
            <a:ext cx="9626607" cy="5141506"/>
          </a:xfrm>
          <a:custGeom>
            <a:avLst/>
            <a:gdLst/>
            <a:ahLst/>
            <a:cxnLst/>
            <a:rect r="r" b="b" t="t" l="l"/>
            <a:pathLst>
              <a:path h="5141506" w="9626607">
                <a:moveTo>
                  <a:pt x="0" y="0"/>
                </a:moveTo>
                <a:lnTo>
                  <a:pt x="9626608" y="0"/>
                </a:lnTo>
                <a:lnTo>
                  <a:pt x="9626608" y="5141505"/>
                </a:lnTo>
                <a:lnTo>
                  <a:pt x="0" y="514150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603" t="0" r="-1603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323483" y="419100"/>
            <a:ext cx="16065535" cy="15536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39"/>
              </a:lnSpc>
            </a:pPr>
            <a:r>
              <a:rPr lang="en-US" sz="4457" b="true">
                <a:solidFill>
                  <a:srgbClr val="660D21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Experimental Results</a:t>
            </a:r>
          </a:p>
          <a:p>
            <a:pPr algn="ctr">
              <a:lnSpc>
                <a:spcPts val="6239"/>
              </a:lnSpc>
            </a:pPr>
            <a:r>
              <a:rPr lang="en-US" sz="4457" b="true">
                <a:solidFill>
                  <a:srgbClr val="660D21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Scalability: Throughput vs. Consistency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3136959" y="0"/>
            <a:ext cx="5151041" cy="4921391"/>
            <a:chOff x="0" y="0"/>
            <a:chExt cx="6868055" cy="6561855"/>
          </a:xfrm>
        </p:grpSpPr>
        <p:sp>
          <p:nvSpPr>
            <p:cNvPr name="Freeform 6" id="6"/>
            <p:cNvSpPr/>
            <p:nvPr/>
          </p:nvSpPr>
          <p:spPr>
            <a:xfrm flipH="true" flipV="true" rot="0">
              <a:off x="0" y="0"/>
              <a:ext cx="6868033" cy="6561836"/>
            </a:xfrm>
            <a:custGeom>
              <a:avLst/>
              <a:gdLst/>
              <a:ahLst/>
              <a:cxnLst/>
              <a:rect r="r" b="b" t="t" l="l"/>
              <a:pathLst>
                <a:path h="6561836" w="6868033">
                  <a:moveTo>
                    <a:pt x="6868033" y="6561836"/>
                  </a:moveTo>
                  <a:lnTo>
                    <a:pt x="0" y="6561836"/>
                  </a:lnTo>
                  <a:lnTo>
                    <a:pt x="0" y="0"/>
                  </a:lnTo>
                  <a:lnTo>
                    <a:pt x="6868033" y="0"/>
                  </a:lnTo>
                  <a:lnTo>
                    <a:pt x="6868033" y="6561836"/>
                  </a:lnTo>
                  <a:close/>
                </a:path>
              </a:pathLst>
            </a:custGeom>
            <a:blipFill>
              <a:blip r:embed="rId6"/>
              <a:stretch>
                <a:fillRect l="-3" t="0" r="-4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9933062" y="2493181"/>
            <a:ext cx="7801383" cy="6032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16471" indent="-308236" lvl="1">
              <a:lnSpc>
                <a:spcPts val="3997"/>
              </a:lnSpc>
              <a:buFont typeface="Arial"/>
              <a:buChar char="•"/>
            </a:pPr>
            <a:r>
              <a:rPr lang="en-US" b="true" sz="2855">
                <a:solidFill>
                  <a:srgbClr val="660D21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Scenari</a:t>
            </a:r>
            <a:r>
              <a:rPr lang="en-US" b="true" sz="2855">
                <a:solidFill>
                  <a:srgbClr val="660D21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o: Compared Weak (W=1), Quorum (W=2), and Strong (W=3) consistency at different scales (N=3, N=5).</a:t>
            </a:r>
          </a:p>
          <a:p>
            <a:pPr algn="l" marL="616471" indent="-308236" lvl="1">
              <a:lnSpc>
                <a:spcPts val="3997"/>
              </a:lnSpc>
              <a:buFont typeface="Arial"/>
              <a:buChar char="•"/>
            </a:pPr>
            <a:r>
              <a:rPr lang="en-US" b="true" sz="2855">
                <a:solidFill>
                  <a:srgbClr val="660D21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Repli</a:t>
            </a:r>
            <a:r>
              <a:rPr lang="en-US" b="true" sz="2855">
                <a:solidFill>
                  <a:srgbClr val="660D21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cation Overhead: Throughput drops by ~33% when increasing replicas from N=3 to N=5 (from ~600 to ~400 OPS).</a:t>
            </a:r>
          </a:p>
          <a:p>
            <a:pPr algn="l" marL="616471" indent="-308236" lvl="1">
              <a:lnSpc>
                <a:spcPts val="3997"/>
              </a:lnSpc>
              <a:buFont typeface="Arial"/>
              <a:buChar char="•"/>
            </a:pPr>
            <a:r>
              <a:rPr lang="en-US" b="true" sz="2855">
                <a:solidFill>
                  <a:srgbClr val="660D21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Observation: The system is bottlenecked by the volume of outbound replication traffic (N) rather than quorum wait times (W), as performance within each N group is relatively flat.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960705">
            <a:off x="-1436616" y="7724775"/>
            <a:ext cx="5006947" cy="4114800"/>
          </a:xfrm>
          <a:custGeom>
            <a:avLst/>
            <a:gdLst/>
            <a:ahLst/>
            <a:cxnLst/>
            <a:rect r="r" b="b" t="t" l="l"/>
            <a:pathLst>
              <a:path h="4114800" w="5006947">
                <a:moveTo>
                  <a:pt x="0" y="0"/>
                </a:moveTo>
                <a:lnTo>
                  <a:pt x="5006947" y="0"/>
                </a:lnTo>
                <a:lnTo>
                  <a:pt x="500694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83" r="0" b="-83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22558" y="593799"/>
            <a:ext cx="16436742" cy="1553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239"/>
              </a:lnSpc>
              <a:spcBef>
                <a:spcPct val="0"/>
              </a:spcBef>
            </a:pPr>
            <a:r>
              <a:rPr lang="en-US" b="true" sz="4457" strike="noStrike" u="none">
                <a:solidFill>
                  <a:srgbClr val="660D21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Experimental Results</a:t>
            </a:r>
          </a:p>
          <a:p>
            <a:pPr algn="ctr" marL="0" indent="0" lvl="0">
              <a:lnSpc>
                <a:spcPts val="6239"/>
              </a:lnSpc>
              <a:spcBef>
                <a:spcPct val="0"/>
              </a:spcBef>
            </a:pPr>
            <a:r>
              <a:rPr lang="en-US" b="true" sz="4457" strike="noStrike" u="none">
                <a:solidFill>
                  <a:srgbClr val="660D21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The Cost of Consistency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3136959" y="0"/>
            <a:ext cx="5151041" cy="4921391"/>
            <a:chOff x="0" y="0"/>
            <a:chExt cx="6868055" cy="6561855"/>
          </a:xfrm>
        </p:grpSpPr>
        <p:sp>
          <p:nvSpPr>
            <p:cNvPr name="Freeform 5" id="5"/>
            <p:cNvSpPr/>
            <p:nvPr/>
          </p:nvSpPr>
          <p:spPr>
            <a:xfrm flipH="true" flipV="true" rot="0">
              <a:off x="0" y="0"/>
              <a:ext cx="6868033" cy="6561836"/>
            </a:xfrm>
            <a:custGeom>
              <a:avLst/>
              <a:gdLst/>
              <a:ahLst/>
              <a:cxnLst/>
              <a:rect r="r" b="b" t="t" l="l"/>
              <a:pathLst>
                <a:path h="6561836" w="6868033">
                  <a:moveTo>
                    <a:pt x="6868033" y="6561836"/>
                  </a:moveTo>
                  <a:lnTo>
                    <a:pt x="0" y="6561836"/>
                  </a:lnTo>
                  <a:lnTo>
                    <a:pt x="0" y="0"/>
                  </a:lnTo>
                  <a:lnTo>
                    <a:pt x="6868033" y="0"/>
                  </a:lnTo>
                  <a:lnTo>
                    <a:pt x="6868033" y="6561836"/>
                  </a:lnTo>
                  <a:close/>
                </a:path>
              </a:pathLst>
            </a:custGeom>
            <a:blipFill>
              <a:blip r:embed="rId5"/>
              <a:stretch>
                <a:fillRect l="-3" t="0" r="-4" b="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028700" y="2616710"/>
            <a:ext cx="8482004" cy="5504678"/>
          </a:xfrm>
          <a:custGeom>
            <a:avLst/>
            <a:gdLst/>
            <a:ahLst/>
            <a:cxnLst/>
            <a:rect r="r" b="b" t="t" l="l"/>
            <a:pathLst>
              <a:path h="5504678" w="8482004">
                <a:moveTo>
                  <a:pt x="0" y="0"/>
                </a:moveTo>
                <a:lnTo>
                  <a:pt x="8482004" y="0"/>
                </a:lnTo>
                <a:lnTo>
                  <a:pt x="8482004" y="5504679"/>
                </a:lnTo>
                <a:lnTo>
                  <a:pt x="0" y="550467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4081" t="0" r="-4081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9781625" y="2559560"/>
            <a:ext cx="7742851" cy="6787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3848" indent="-321924" lvl="1">
              <a:lnSpc>
                <a:spcPts val="4175"/>
              </a:lnSpc>
              <a:buFont typeface="Arial"/>
              <a:buChar char="•"/>
            </a:pPr>
            <a:r>
              <a:rPr lang="en-US" b="true" sz="2982">
                <a:solidFill>
                  <a:srgbClr val="660D21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Scenario: Analyzed the latency impact of increasing consistency guarantees (W=1 vs. W=2) and the overhead of server-side versus client-side routing strategies.</a:t>
            </a:r>
          </a:p>
          <a:p>
            <a:pPr algn="l" marL="643848" indent="-321924" lvl="1">
              <a:lnSpc>
                <a:spcPts val="4175"/>
              </a:lnSpc>
              <a:buFont typeface="Arial"/>
              <a:buChar char="•"/>
            </a:pPr>
            <a:r>
              <a:rPr lang="en-US" b="true" sz="2982">
                <a:solidFill>
                  <a:srgbClr val="660D21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Write</a:t>
            </a:r>
            <a:r>
              <a:rPr lang="en-US" b="true" sz="2982">
                <a:solidFill>
                  <a:srgbClr val="660D21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 Latency: Jumps from 11.6ms to 12.5ms when moving from Weak (W=1) to Balanced (W=2) consistency.</a:t>
            </a:r>
          </a:p>
          <a:p>
            <a:pPr algn="l" marL="643848" indent="-321924" lvl="1">
              <a:lnSpc>
                <a:spcPts val="4175"/>
              </a:lnSpc>
              <a:buFont typeface="Arial"/>
              <a:buChar char="•"/>
            </a:pPr>
            <a:r>
              <a:rPr lang="en-US" b="true" sz="2982">
                <a:solidFill>
                  <a:srgbClr val="660D21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Conclusion: Synchronous replication (W&gt;1) introduces significant blocking latency, confirming the need for asynchronous optimization.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960705">
            <a:off x="-1436616" y="7724775"/>
            <a:ext cx="5006947" cy="4114800"/>
          </a:xfrm>
          <a:custGeom>
            <a:avLst/>
            <a:gdLst/>
            <a:ahLst/>
            <a:cxnLst/>
            <a:rect r="r" b="b" t="t" l="l"/>
            <a:pathLst>
              <a:path h="4114800" w="5006947">
                <a:moveTo>
                  <a:pt x="0" y="0"/>
                </a:moveTo>
                <a:lnTo>
                  <a:pt x="5006947" y="0"/>
                </a:lnTo>
                <a:lnTo>
                  <a:pt x="500694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83" r="0" b="-8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497835" y="2665676"/>
            <a:ext cx="8790165" cy="6592624"/>
          </a:xfrm>
          <a:custGeom>
            <a:avLst/>
            <a:gdLst/>
            <a:ahLst/>
            <a:cxnLst/>
            <a:rect r="r" b="b" t="t" l="l"/>
            <a:pathLst>
              <a:path h="6592624" w="8790165">
                <a:moveTo>
                  <a:pt x="0" y="0"/>
                </a:moveTo>
                <a:lnTo>
                  <a:pt x="8790165" y="0"/>
                </a:lnTo>
                <a:lnTo>
                  <a:pt x="8790165" y="6592624"/>
                </a:lnTo>
                <a:lnTo>
                  <a:pt x="0" y="659262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3136959" y="0"/>
            <a:ext cx="5151041" cy="4921391"/>
            <a:chOff x="0" y="0"/>
            <a:chExt cx="6868055" cy="6561855"/>
          </a:xfrm>
        </p:grpSpPr>
        <p:sp>
          <p:nvSpPr>
            <p:cNvPr name="Freeform 5" id="5"/>
            <p:cNvSpPr/>
            <p:nvPr/>
          </p:nvSpPr>
          <p:spPr>
            <a:xfrm flipH="true" flipV="true" rot="0">
              <a:off x="0" y="0"/>
              <a:ext cx="6868033" cy="6561836"/>
            </a:xfrm>
            <a:custGeom>
              <a:avLst/>
              <a:gdLst/>
              <a:ahLst/>
              <a:cxnLst/>
              <a:rect r="r" b="b" t="t" l="l"/>
              <a:pathLst>
                <a:path h="6561836" w="6868033">
                  <a:moveTo>
                    <a:pt x="6868033" y="6561836"/>
                  </a:moveTo>
                  <a:lnTo>
                    <a:pt x="0" y="6561836"/>
                  </a:lnTo>
                  <a:lnTo>
                    <a:pt x="0" y="0"/>
                  </a:lnTo>
                  <a:lnTo>
                    <a:pt x="6868033" y="0"/>
                  </a:lnTo>
                  <a:lnTo>
                    <a:pt x="6868033" y="6561836"/>
                  </a:lnTo>
                  <a:close/>
                </a:path>
              </a:pathLst>
            </a:custGeom>
            <a:blipFill>
              <a:blip r:embed="rId6"/>
              <a:stretch>
                <a:fillRect l="-3" t="0" r="-4" b="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0" y="1677534"/>
            <a:ext cx="9040929" cy="6780697"/>
          </a:xfrm>
          <a:custGeom>
            <a:avLst/>
            <a:gdLst/>
            <a:ahLst/>
            <a:cxnLst/>
            <a:rect r="r" b="b" t="t" l="l"/>
            <a:pathLst>
              <a:path h="6780697" w="9040929">
                <a:moveTo>
                  <a:pt x="0" y="0"/>
                </a:moveTo>
                <a:lnTo>
                  <a:pt x="9040929" y="0"/>
                </a:lnTo>
                <a:lnTo>
                  <a:pt x="9040929" y="6780697"/>
                </a:lnTo>
                <a:lnTo>
                  <a:pt x="0" y="678069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822558" y="593799"/>
            <a:ext cx="16436742" cy="763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239"/>
              </a:lnSpc>
              <a:spcBef>
                <a:spcPct val="0"/>
              </a:spcBef>
            </a:pPr>
            <a:r>
              <a:rPr lang="en-US" b="true" sz="4457" strike="noStrike" u="none">
                <a:solidFill>
                  <a:srgbClr val="660D21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Experimental Results: Impact</a:t>
            </a:r>
            <a:r>
              <a:rPr lang="en-US" b="true" sz="4457" strike="noStrike" u="none">
                <a:solidFill>
                  <a:srgbClr val="660D21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 o</a:t>
            </a:r>
            <a:r>
              <a:rPr lang="en-US" b="true" sz="4457" strike="noStrike" u="none">
                <a:solidFill>
                  <a:srgbClr val="660D21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f Read</a:t>
            </a:r>
            <a:r>
              <a:rPr lang="en-US" b="true" sz="4457" strike="noStrike" u="none">
                <a:solidFill>
                  <a:srgbClr val="660D21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 </a:t>
            </a:r>
            <a:r>
              <a:rPr lang="en-US" b="true" sz="4457" strike="noStrike" u="none">
                <a:solidFill>
                  <a:srgbClr val="660D21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Qu</a:t>
            </a:r>
            <a:r>
              <a:rPr lang="en-US" b="true" sz="4457" strike="noStrike" u="none">
                <a:solidFill>
                  <a:srgbClr val="660D21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o</a:t>
            </a:r>
            <a:r>
              <a:rPr lang="en-US" b="true" sz="4457" strike="noStrike" u="none">
                <a:solidFill>
                  <a:srgbClr val="660D21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rum</a:t>
            </a:r>
            <a:r>
              <a:rPr lang="en-US" b="true" sz="4457" strike="noStrike" u="none">
                <a:solidFill>
                  <a:srgbClr val="660D21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 on</a:t>
            </a:r>
            <a:r>
              <a:rPr lang="en-US" b="true" sz="4457" strike="noStrike" u="none">
                <a:solidFill>
                  <a:srgbClr val="660D21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 La</a:t>
            </a:r>
            <a:r>
              <a:rPr lang="en-US" b="true" sz="4457" strike="noStrike" u="none">
                <a:solidFill>
                  <a:srgbClr val="660D21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tency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960705">
            <a:off x="-1436616" y="7724775"/>
            <a:ext cx="5006947" cy="4114800"/>
          </a:xfrm>
          <a:custGeom>
            <a:avLst/>
            <a:gdLst/>
            <a:ahLst/>
            <a:cxnLst/>
            <a:rect r="r" b="b" t="t" l="l"/>
            <a:pathLst>
              <a:path h="4114800" w="5006947">
                <a:moveTo>
                  <a:pt x="0" y="0"/>
                </a:moveTo>
                <a:lnTo>
                  <a:pt x="5006947" y="0"/>
                </a:lnTo>
                <a:lnTo>
                  <a:pt x="500694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83" r="0" b="-8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66858" y="3152124"/>
            <a:ext cx="8592643" cy="4586323"/>
          </a:xfrm>
          <a:custGeom>
            <a:avLst/>
            <a:gdLst/>
            <a:ahLst/>
            <a:cxnLst/>
            <a:rect r="r" b="b" t="t" l="l"/>
            <a:pathLst>
              <a:path h="4586323" w="8592643">
                <a:moveTo>
                  <a:pt x="0" y="0"/>
                </a:moveTo>
                <a:lnTo>
                  <a:pt x="8592643" y="0"/>
                </a:lnTo>
                <a:lnTo>
                  <a:pt x="8592643" y="4586324"/>
                </a:lnTo>
                <a:lnTo>
                  <a:pt x="0" y="458632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3136959" y="0"/>
            <a:ext cx="5151041" cy="4921391"/>
            <a:chOff x="0" y="0"/>
            <a:chExt cx="6868055" cy="6561855"/>
          </a:xfrm>
        </p:grpSpPr>
        <p:sp>
          <p:nvSpPr>
            <p:cNvPr name="Freeform 5" id="5"/>
            <p:cNvSpPr/>
            <p:nvPr/>
          </p:nvSpPr>
          <p:spPr>
            <a:xfrm flipH="true" flipV="true" rot="0">
              <a:off x="0" y="0"/>
              <a:ext cx="6868033" cy="6561836"/>
            </a:xfrm>
            <a:custGeom>
              <a:avLst/>
              <a:gdLst/>
              <a:ahLst/>
              <a:cxnLst/>
              <a:rect r="r" b="b" t="t" l="l"/>
              <a:pathLst>
                <a:path h="6561836" w="6868033">
                  <a:moveTo>
                    <a:pt x="6868033" y="6561836"/>
                  </a:moveTo>
                  <a:lnTo>
                    <a:pt x="0" y="6561836"/>
                  </a:lnTo>
                  <a:lnTo>
                    <a:pt x="0" y="0"/>
                  </a:lnTo>
                  <a:lnTo>
                    <a:pt x="6868033" y="0"/>
                  </a:lnTo>
                  <a:lnTo>
                    <a:pt x="6868033" y="6561836"/>
                  </a:lnTo>
                  <a:close/>
                </a:path>
              </a:pathLst>
            </a:custGeom>
            <a:blipFill>
              <a:blip r:embed="rId6"/>
              <a:stretch>
                <a:fillRect l="-3" t="0" r="-4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259386" y="3180887"/>
            <a:ext cx="6999914" cy="44716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1067" indent="-345533" lvl="1">
              <a:lnSpc>
                <a:spcPts val="4481"/>
              </a:lnSpc>
              <a:buFont typeface="Arial"/>
              <a:buChar char="•"/>
            </a:pPr>
            <a:r>
              <a:rPr lang="en-US" b="true" sz="3200">
                <a:solidFill>
                  <a:srgbClr val="660D21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With</a:t>
            </a:r>
            <a:r>
              <a:rPr lang="en-US" b="true" sz="3200">
                <a:solidFill>
                  <a:srgbClr val="660D21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out VNodes: High variance (sigma=21.6). Some nodes overloaded.</a:t>
            </a:r>
          </a:p>
          <a:p>
            <a:pPr algn="l" marL="691067" indent="-345533" lvl="1">
              <a:lnSpc>
                <a:spcPts val="4481"/>
              </a:lnSpc>
              <a:buFont typeface="Arial"/>
              <a:buChar char="•"/>
            </a:pPr>
            <a:r>
              <a:rPr lang="en-US" b="true" sz="3200">
                <a:solidFill>
                  <a:srgbClr val="660D21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With VNod</a:t>
            </a:r>
            <a:r>
              <a:rPr lang="en-US" b="true" sz="3200">
                <a:solidFill>
                  <a:srgbClr val="660D21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es (100/node): Variance drops to sigma=6.0.</a:t>
            </a:r>
          </a:p>
          <a:p>
            <a:pPr algn="l" marL="691067" indent="-345533" lvl="1">
              <a:lnSpc>
                <a:spcPts val="4481"/>
              </a:lnSpc>
              <a:buFont typeface="Arial"/>
              <a:buChar char="•"/>
            </a:pPr>
            <a:r>
              <a:rPr lang="en-US" b="true" sz="3200">
                <a:solidFill>
                  <a:srgbClr val="660D21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Scalability: Demonstrated linear throughput growth from 3 to 12 nodes.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19529" y="933450"/>
            <a:ext cx="15429891" cy="845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939"/>
              </a:lnSpc>
              <a:spcBef>
                <a:spcPct val="0"/>
              </a:spcBef>
            </a:pPr>
            <a:r>
              <a:rPr lang="en-US" b="true" sz="4957" strike="noStrike" u="none">
                <a:solidFill>
                  <a:srgbClr val="660D21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Experimental Results: Load Balancing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960705">
            <a:off x="-1436616" y="7724775"/>
            <a:ext cx="5006947" cy="4114800"/>
          </a:xfrm>
          <a:custGeom>
            <a:avLst/>
            <a:gdLst/>
            <a:ahLst/>
            <a:cxnLst/>
            <a:rect r="r" b="b" t="t" l="l"/>
            <a:pathLst>
              <a:path h="4114800" w="5006947">
                <a:moveTo>
                  <a:pt x="0" y="0"/>
                </a:moveTo>
                <a:lnTo>
                  <a:pt x="5006947" y="0"/>
                </a:lnTo>
                <a:lnTo>
                  <a:pt x="500694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83" r="0" b="-8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136959" y="0"/>
            <a:ext cx="5151041" cy="4921391"/>
            <a:chOff x="0" y="0"/>
            <a:chExt cx="6868055" cy="6561855"/>
          </a:xfrm>
        </p:grpSpPr>
        <p:sp>
          <p:nvSpPr>
            <p:cNvPr name="Freeform 4" id="4"/>
            <p:cNvSpPr/>
            <p:nvPr/>
          </p:nvSpPr>
          <p:spPr>
            <a:xfrm flipH="true" flipV="true" rot="0">
              <a:off x="0" y="0"/>
              <a:ext cx="6868033" cy="6561836"/>
            </a:xfrm>
            <a:custGeom>
              <a:avLst/>
              <a:gdLst/>
              <a:ahLst/>
              <a:cxnLst/>
              <a:rect r="r" b="b" t="t" l="l"/>
              <a:pathLst>
                <a:path h="6561836" w="6868033">
                  <a:moveTo>
                    <a:pt x="6868033" y="6561836"/>
                  </a:moveTo>
                  <a:lnTo>
                    <a:pt x="0" y="6561836"/>
                  </a:lnTo>
                  <a:lnTo>
                    <a:pt x="0" y="0"/>
                  </a:lnTo>
                  <a:lnTo>
                    <a:pt x="6868033" y="0"/>
                  </a:lnTo>
                  <a:lnTo>
                    <a:pt x="6868033" y="6561836"/>
                  </a:lnTo>
                  <a:close/>
                </a:path>
              </a:pathLst>
            </a:custGeom>
            <a:blipFill>
              <a:blip r:embed="rId5"/>
              <a:stretch>
                <a:fillRect l="-3" t="0" r="-4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9418222" y="2640932"/>
            <a:ext cx="8236722" cy="6092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6073" indent="-313037" lvl="1">
              <a:lnSpc>
                <a:spcPts val="4059"/>
              </a:lnSpc>
              <a:buFont typeface="Arial"/>
              <a:buChar char="•"/>
            </a:pPr>
            <a:r>
              <a:rPr lang="en-US" b="true" sz="2899">
                <a:solidFill>
                  <a:srgbClr val="660D21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Scenario: Validated load-balancing efficacy across a 100-node cluster (1000 keys, N=3) using Consistent Hashing.</a:t>
            </a:r>
          </a:p>
          <a:p>
            <a:pPr algn="l" marL="626073" indent="-313037" lvl="1">
              <a:lnSpc>
                <a:spcPts val="4059"/>
              </a:lnSpc>
              <a:buFont typeface="Arial"/>
              <a:buChar char="•"/>
            </a:pPr>
            <a:r>
              <a:rPr lang="en-US" b="true" sz="2899">
                <a:solidFill>
                  <a:srgbClr val="660D21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Distribution Stability: The system successfully distributes 3000 total replicas around an ideal mean of 30 keys/node (Red Line).</a:t>
            </a:r>
          </a:p>
          <a:p>
            <a:pPr algn="l" marL="626073" indent="-313037" lvl="1">
              <a:lnSpc>
                <a:spcPts val="4059"/>
              </a:lnSpc>
              <a:buFont typeface="Arial"/>
              <a:buChar char="•"/>
            </a:pPr>
            <a:r>
              <a:rPr lang="en-US" b="true" sz="2899">
                <a:solidFill>
                  <a:srgbClr val="660D21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Observation: The partitioning strategy effectively spreads the storage burden, preventing dangerous "hotspots" despite the natural statistical variance of the hashing algorithm.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305479" y="3238037"/>
            <a:ext cx="8828996" cy="4414498"/>
          </a:xfrm>
          <a:custGeom>
            <a:avLst/>
            <a:gdLst/>
            <a:ahLst/>
            <a:cxnLst/>
            <a:rect r="r" b="b" t="t" l="l"/>
            <a:pathLst>
              <a:path h="4414498" w="8828996">
                <a:moveTo>
                  <a:pt x="0" y="0"/>
                </a:moveTo>
                <a:lnTo>
                  <a:pt x="8828996" y="0"/>
                </a:lnTo>
                <a:lnTo>
                  <a:pt x="8828996" y="4414498"/>
                </a:lnTo>
                <a:lnTo>
                  <a:pt x="0" y="441449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419529" y="933450"/>
            <a:ext cx="15429891" cy="845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939"/>
              </a:lnSpc>
              <a:spcBef>
                <a:spcPct val="0"/>
              </a:spcBef>
            </a:pPr>
            <a:r>
              <a:rPr lang="en-US" b="true" sz="4957" strike="noStrike" u="none">
                <a:solidFill>
                  <a:srgbClr val="660D21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Experimental Results: Key</a:t>
            </a:r>
            <a:r>
              <a:rPr lang="en-US" b="true" sz="4957" strike="noStrike" u="none">
                <a:solidFill>
                  <a:srgbClr val="660D21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 </a:t>
            </a:r>
            <a:r>
              <a:rPr lang="en-US" b="true" sz="4957" strike="noStrike" u="none">
                <a:solidFill>
                  <a:srgbClr val="660D21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Distr</a:t>
            </a:r>
            <a:r>
              <a:rPr lang="en-US" b="true" sz="4957" strike="noStrike" u="none">
                <a:solidFill>
                  <a:srgbClr val="660D21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i</a:t>
            </a:r>
            <a:r>
              <a:rPr lang="en-US" b="true" sz="4957" strike="noStrike" u="none">
                <a:solidFill>
                  <a:srgbClr val="660D21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butio</a:t>
            </a:r>
            <a:r>
              <a:rPr lang="en-US" b="true" sz="4957" strike="noStrike" u="none">
                <a:solidFill>
                  <a:srgbClr val="660D21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n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960705">
            <a:off x="-1436616" y="7724775"/>
            <a:ext cx="5006947" cy="4114800"/>
          </a:xfrm>
          <a:custGeom>
            <a:avLst/>
            <a:gdLst/>
            <a:ahLst/>
            <a:cxnLst/>
            <a:rect r="r" b="b" t="t" l="l"/>
            <a:pathLst>
              <a:path h="4114800" w="5006947">
                <a:moveTo>
                  <a:pt x="0" y="0"/>
                </a:moveTo>
                <a:lnTo>
                  <a:pt x="5006947" y="0"/>
                </a:lnTo>
                <a:lnTo>
                  <a:pt x="500694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83" r="0" b="-8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2001956"/>
            <a:ext cx="9547704" cy="5728622"/>
          </a:xfrm>
          <a:custGeom>
            <a:avLst/>
            <a:gdLst/>
            <a:ahLst/>
            <a:cxnLst/>
            <a:rect r="r" b="b" t="t" l="l"/>
            <a:pathLst>
              <a:path h="5728622" w="9547704">
                <a:moveTo>
                  <a:pt x="0" y="0"/>
                </a:moveTo>
                <a:lnTo>
                  <a:pt x="9547704" y="0"/>
                </a:lnTo>
                <a:lnTo>
                  <a:pt x="9547704" y="5728623"/>
                </a:lnTo>
                <a:lnTo>
                  <a:pt x="0" y="572862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867049" y="3411668"/>
            <a:ext cx="9744387" cy="5846632"/>
          </a:xfrm>
          <a:custGeom>
            <a:avLst/>
            <a:gdLst/>
            <a:ahLst/>
            <a:cxnLst/>
            <a:rect r="r" b="b" t="t" l="l"/>
            <a:pathLst>
              <a:path h="5846632" w="9744387">
                <a:moveTo>
                  <a:pt x="0" y="0"/>
                </a:moveTo>
                <a:lnTo>
                  <a:pt x="9744387" y="0"/>
                </a:lnTo>
                <a:lnTo>
                  <a:pt x="9744387" y="5846632"/>
                </a:lnTo>
                <a:lnTo>
                  <a:pt x="0" y="584663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3136959" y="0"/>
            <a:ext cx="5151041" cy="4921391"/>
            <a:chOff x="0" y="0"/>
            <a:chExt cx="6868055" cy="6561855"/>
          </a:xfrm>
        </p:grpSpPr>
        <p:sp>
          <p:nvSpPr>
            <p:cNvPr name="Freeform 6" id="6"/>
            <p:cNvSpPr/>
            <p:nvPr/>
          </p:nvSpPr>
          <p:spPr>
            <a:xfrm flipH="true" flipV="true" rot="0">
              <a:off x="0" y="0"/>
              <a:ext cx="6868033" cy="6561836"/>
            </a:xfrm>
            <a:custGeom>
              <a:avLst/>
              <a:gdLst/>
              <a:ahLst/>
              <a:cxnLst/>
              <a:rect r="r" b="b" t="t" l="l"/>
              <a:pathLst>
                <a:path h="6561836" w="6868033">
                  <a:moveTo>
                    <a:pt x="6868033" y="6561836"/>
                  </a:moveTo>
                  <a:lnTo>
                    <a:pt x="0" y="6561836"/>
                  </a:lnTo>
                  <a:lnTo>
                    <a:pt x="0" y="0"/>
                  </a:lnTo>
                  <a:lnTo>
                    <a:pt x="6868033" y="0"/>
                  </a:lnTo>
                  <a:lnTo>
                    <a:pt x="6868033" y="6561836"/>
                  </a:lnTo>
                  <a:close/>
                </a:path>
              </a:pathLst>
            </a:custGeom>
            <a:blipFill>
              <a:blip r:embed="rId7"/>
              <a:stretch>
                <a:fillRect l="-3" t="0" r="-4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0" y="933450"/>
            <a:ext cx="18288000" cy="845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939"/>
              </a:lnSpc>
              <a:spcBef>
                <a:spcPct val="0"/>
              </a:spcBef>
            </a:pPr>
            <a:r>
              <a:rPr lang="en-US" b="true" sz="4957" strike="noStrike" u="none">
                <a:solidFill>
                  <a:srgbClr val="660D21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Experimental Results: Horizontal and Dynamic Scaling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960705">
            <a:off x="-1436616" y="7724775"/>
            <a:ext cx="5006947" cy="4114800"/>
          </a:xfrm>
          <a:custGeom>
            <a:avLst/>
            <a:gdLst/>
            <a:ahLst/>
            <a:cxnLst/>
            <a:rect r="r" b="b" t="t" l="l"/>
            <a:pathLst>
              <a:path h="4114800" w="5006947">
                <a:moveTo>
                  <a:pt x="0" y="0"/>
                </a:moveTo>
                <a:lnTo>
                  <a:pt x="5006947" y="0"/>
                </a:lnTo>
                <a:lnTo>
                  <a:pt x="500694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83" r="0" b="-8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136959" y="0"/>
            <a:ext cx="5151041" cy="4921391"/>
            <a:chOff x="0" y="0"/>
            <a:chExt cx="6868055" cy="6561855"/>
          </a:xfrm>
        </p:grpSpPr>
        <p:sp>
          <p:nvSpPr>
            <p:cNvPr name="Freeform 4" id="4"/>
            <p:cNvSpPr/>
            <p:nvPr/>
          </p:nvSpPr>
          <p:spPr>
            <a:xfrm flipH="true" flipV="true" rot="0">
              <a:off x="0" y="0"/>
              <a:ext cx="6868033" cy="6561836"/>
            </a:xfrm>
            <a:custGeom>
              <a:avLst/>
              <a:gdLst/>
              <a:ahLst/>
              <a:cxnLst/>
              <a:rect r="r" b="b" t="t" l="l"/>
              <a:pathLst>
                <a:path h="6561836" w="6868033">
                  <a:moveTo>
                    <a:pt x="6868033" y="6561836"/>
                  </a:moveTo>
                  <a:lnTo>
                    <a:pt x="0" y="6561836"/>
                  </a:lnTo>
                  <a:lnTo>
                    <a:pt x="0" y="0"/>
                  </a:lnTo>
                  <a:lnTo>
                    <a:pt x="6868033" y="0"/>
                  </a:lnTo>
                  <a:lnTo>
                    <a:pt x="6868033" y="6561836"/>
                  </a:lnTo>
                  <a:close/>
                </a:path>
              </a:pathLst>
            </a:custGeom>
            <a:blipFill>
              <a:blip r:embed="rId5"/>
              <a:stretch>
                <a:fillRect l="-3" t="0" r="-4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1066858" y="3007528"/>
            <a:ext cx="7323009" cy="5492257"/>
          </a:xfrm>
          <a:custGeom>
            <a:avLst/>
            <a:gdLst/>
            <a:ahLst/>
            <a:cxnLst/>
            <a:rect r="r" b="b" t="t" l="l"/>
            <a:pathLst>
              <a:path h="5492257" w="7323009">
                <a:moveTo>
                  <a:pt x="0" y="0"/>
                </a:moveTo>
                <a:lnTo>
                  <a:pt x="7323008" y="0"/>
                </a:lnTo>
                <a:lnTo>
                  <a:pt x="7323008" y="5492257"/>
                </a:lnTo>
                <a:lnTo>
                  <a:pt x="0" y="549225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9144000" y="2169276"/>
            <a:ext cx="8629650" cy="7121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7800" indent="-313900" lvl="1">
              <a:lnSpc>
                <a:spcPts val="4070"/>
              </a:lnSpc>
              <a:buFont typeface="Arial"/>
              <a:buChar char="•"/>
            </a:pPr>
            <a:r>
              <a:rPr lang="en-US" b="true" sz="2907">
                <a:solidFill>
                  <a:srgbClr val="660D21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Smart Client</a:t>
            </a:r>
            <a:r>
              <a:rPr lang="en-US" b="true" sz="2907">
                <a:solidFill>
                  <a:srgbClr val="660D21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 Efficiency: By maintaining a copy of the hash ring locally, the Smart Client routes requests directly to the data owner, achieving a baseline latency of 3.59 ms.</a:t>
            </a:r>
          </a:p>
          <a:p>
            <a:pPr algn="l" marL="627800" indent="-313900" lvl="1">
              <a:lnSpc>
                <a:spcPts val="4070"/>
              </a:lnSpc>
              <a:buFont typeface="Arial"/>
              <a:buChar char="•"/>
            </a:pPr>
            <a:r>
              <a:rPr lang="en-US" b="true" sz="2907">
                <a:solidFill>
                  <a:srgbClr val="660D21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The "Hop" Penalty: The</a:t>
            </a:r>
            <a:r>
              <a:rPr lang="en-US" b="true" sz="2907">
                <a:solidFill>
                  <a:srgbClr val="660D21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 Random Client (Server-Routed) strategy suffers a ~3.4x latency increase (12.22 ms).</a:t>
            </a:r>
          </a:p>
          <a:p>
            <a:pPr algn="l" marL="627800" indent="-313900" lvl="1">
              <a:lnSpc>
                <a:spcPts val="4070"/>
              </a:lnSpc>
              <a:buFont typeface="Arial"/>
              <a:buChar char="•"/>
            </a:pPr>
            <a:r>
              <a:rPr lang="en-US" b="true" sz="2907">
                <a:solidFill>
                  <a:srgbClr val="660D21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Conclusion: The extra ~8.6 ms represents the cost of internal request forwarding. When a client hits a random node, that node must act as a proxy, introducing an additional network hop to reach the correct coordinator.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16764" y="281786"/>
            <a:ext cx="17191595" cy="172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939"/>
              </a:lnSpc>
              <a:spcBef>
                <a:spcPct val="0"/>
              </a:spcBef>
            </a:pPr>
            <a:r>
              <a:rPr lang="en-US" b="true" sz="4957" strike="noStrike" u="none">
                <a:solidFill>
                  <a:srgbClr val="660D21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Experimental Results: </a:t>
            </a:r>
          </a:p>
          <a:p>
            <a:pPr algn="ctr" marL="0" indent="0" lvl="0">
              <a:lnSpc>
                <a:spcPts val="6939"/>
              </a:lnSpc>
              <a:spcBef>
                <a:spcPct val="0"/>
              </a:spcBef>
            </a:pPr>
            <a:r>
              <a:rPr lang="en-US" b="true" sz="4957" strike="noStrike" u="none">
                <a:solidFill>
                  <a:srgbClr val="660D21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Impact of Request Coordination Strategy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960705">
            <a:off x="-1436616" y="7724775"/>
            <a:ext cx="5006947" cy="4114800"/>
          </a:xfrm>
          <a:custGeom>
            <a:avLst/>
            <a:gdLst/>
            <a:ahLst/>
            <a:cxnLst/>
            <a:rect r="r" b="b" t="t" l="l"/>
            <a:pathLst>
              <a:path h="4114800" w="5006947">
                <a:moveTo>
                  <a:pt x="0" y="0"/>
                </a:moveTo>
                <a:lnTo>
                  <a:pt x="5006947" y="0"/>
                </a:lnTo>
                <a:lnTo>
                  <a:pt x="500694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83" r="0" b="-8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136959" y="0"/>
            <a:ext cx="5151041" cy="4921391"/>
            <a:chOff x="0" y="0"/>
            <a:chExt cx="6868055" cy="6561855"/>
          </a:xfrm>
        </p:grpSpPr>
        <p:sp>
          <p:nvSpPr>
            <p:cNvPr name="Freeform 4" id="4"/>
            <p:cNvSpPr/>
            <p:nvPr/>
          </p:nvSpPr>
          <p:spPr>
            <a:xfrm flipH="true" flipV="true" rot="0">
              <a:off x="0" y="0"/>
              <a:ext cx="6868033" cy="6561836"/>
            </a:xfrm>
            <a:custGeom>
              <a:avLst/>
              <a:gdLst/>
              <a:ahLst/>
              <a:cxnLst/>
              <a:rect r="r" b="b" t="t" l="l"/>
              <a:pathLst>
                <a:path h="6561836" w="6868033">
                  <a:moveTo>
                    <a:pt x="6868033" y="6561836"/>
                  </a:moveTo>
                  <a:lnTo>
                    <a:pt x="0" y="6561836"/>
                  </a:lnTo>
                  <a:lnTo>
                    <a:pt x="0" y="0"/>
                  </a:lnTo>
                  <a:lnTo>
                    <a:pt x="6868033" y="0"/>
                  </a:lnTo>
                  <a:lnTo>
                    <a:pt x="6868033" y="6561836"/>
                  </a:lnTo>
                  <a:close/>
                </a:path>
              </a:pathLst>
            </a:custGeom>
            <a:blipFill>
              <a:blip r:embed="rId5"/>
              <a:stretch>
                <a:fillRect l="-3" t="0" r="-4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1028700" y="2736209"/>
            <a:ext cx="7960894" cy="5970671"/>
          </a:xfrm>
          <a:custGeom>
            <a:avLst/>
            <a:gdLst/>
            <a:ahLst/>
            <a:cxnLst/>
            <a:rect r="r" b="b" t="t" l="l"/>
            <a:pathLst>
              <a:path h="5970671" w="7960894">
                <a:moveTo>
                  <a:pt x="0" y="0"/>
                </a:moveTo>
                <a:lnTo>
                  <a:pt x="7960894" y="0"/>
                </a:lnTo>
                <a:lnTo>
                  <a:pt x="7960894" y="5970671"/>
                </a:lnTo>
                <a:lnTo>
                  <a:pt x="0" y="597067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9144000" y="2137164"/>
            <a:ext cx="8629650" cy="7121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7800" indent="-313900" lvl="1">
              <a:lnSpc>
                <a:spcPts val="4070"/>
              </a:lnSpc>
              <a:buFont typeface="Arial"/>
              <a:buChar char="•"/>
            </a:pPr>
            <a:r>
              <a:rPr lang="en-US" b="true" sz="2907">
                <a:solidFill>
                  <a:srgbClr val="660D21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Scenario: Analyzed system throughput scaling capabilities under increasing concurrent client load.</a:t>
            </a:r>
          </a:p>
          <a:p>
            <a:pPr algn="l" marL="627800" indent="-313900" lvl="1">
              <a:lnSpc>
                <a:spcPts val="4070"/>
              </a:lnSpc>
              <a:buFont typeface="Arial"/>
              <a:buChar char="•"/>
            </a:pPr>
            <a:r>
              <a:rPr lang="en-US" b="true" sz="2907">
                <a:solidFill>
                  <a:srgbClr val="660D21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Linear Growth: Throughput scales efficiently from ~80 to ~1050 OPS as concurrency rises to 20 clients.</a:t>
            </a:r>
          </a:p>
          <a:p>
            <a:pPr algn="l" marL="627800" indent="-313900" lvl="1">
              <a:lnSpc>
                <a:spcPts val="4070"/>
              </a:lnSpc>
              <a:buFont typeface="Arial"/>
              <a:buChar char="•"/>
            </a:pPr>
            <a:r>
              <a:rPr lang="en-US" b="true" sz="2907">
                <a:solidFill>
                  <a:srgbClr val="660D21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Saturation Point: Performance hits a hard ceiling at ~1300 OPS beyond 20 clients, stabilizing despite added load.</a:t>
            </a:r>
          </a:p>
          <a:p>
            <a:pPr algn="l" marL="627800" indent="-313900" lvl="1">
              <a:lnSpc>
                <a:spcPts val="4070"/>
              </a:lnSpc>
              <a:buFont typeface="Arial"/>
              <a:buChar char="•"/>
            </a:pPr>
            <a:r>
              <a:rPr lang="en-US" b="true" sz="2907">
                <a:solidFill>
                  <a:srgbClr val="660D21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Observation: The plateau indicates the system has reached its physical limits (CPU/Network I/O or lock contention), confirming the bottleneck is capacity-based rather than a software scalability defect.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16764" y="281786"/>
            <a:ext cx="17191595" cy="845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939"/>
              </a:lnSpc>
              <a:spcBef>
                <a:spcPct val="0"/>
              </a:spcBef>
            </a:pPr>
            <a:r>
              <a:rPr lang="en-US" b="true" sz="4957" strike="noStrike" u="none">
                <a:solidFill>
                  <a:srgbClr val="660D21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Experimental Results: System Scalability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960705">
            <a:off x="-1436616" y="7724775"/>
            <a:ext cx="5006947" cy="4114800"/>
          </a:xfrm>
          <a:custGeom>
            <a:avLst/>
            <a:gdLst/>
            <a:ahLst/>
            <a:cxnLst/>
            <a:rect r="r" b="b" t="t" l="l"/>
            <a:pathLst>
              <a:path h="4114800" w="5006947">
                <a:moveTo>
                  <a:pt x="0" y="0"/>
                </a:moveTo>
                <a:lnTo>
                  <a:pt x="5006947" y="0"/>
                </a:lnTo>
                <a:lnTo>
                  <a:pt x="500694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83" r="0" b="-8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2069298"/>
            <a:ext cx="9506976" cy="5704186"/>
          </a:xfrm>
          <a:custGeom>
            <a:avLst/>
            <a:gdLst/>
            <a:ahLst/>
            <a:cxnLst/>
            <a:rect r="r" b="b" t="t" l="l"/>
            <a:pathLst>
              <a:path h="5704186" w="9506976">
                <a:moveTo>
                  <a:pt x="0" y="0"/>
                </a:moveTo>
                <a:lnTo>
                  <a:pt x="9506976" y="0"/>
                </a:lnTo>
                <a:lnTo>
                  <a:pt x="9506976" y="5704186"/>
                </a:lnTo>
                <a:lnTo>
                  <a:pt x="0" y="570418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144000" y="3554114"/>
            <a:ext cx="9506976" cy="5704186"/>
          </a:xfrm>
          <a:custGeom>
            <a:avLst/>
            <a:gdLst/>
            <a:ahLst/>
            <a:cxnLst/>
            <a:rect r="r" b="b" t="t" l="l"/>
            <a:pathLst>
              <a:path h="5704186" w="9506976">
                <a:moveTo>
                  <a:pt x="0" y="0"/>
                </a:moveTo>
                <a:lnTo>
                  <a:pt x="9506976" y="0"/>
                </a:lnTo>
                <a:lnTo>
                  <a:pt x="9506976" y="5704186"/>
                </a:lnTo>
                <a:lnTo>
                  <a:pt x="0" y="570418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3136959" y="0"/>
            <a:ext cx="5151041" cy="4921391"/>
            <a:chOff x="0" y="0"/>
            <a:chExt cx="6868055" cy="6561855"/>
          </a:xfrm>
        </p:grpSpPr>
        <p:sp>
          <p:nvSpPr>
            <p:cNvPr name="Freeform 6" id="6"/>
            <p:cNvSpPr/>
            <p:nvPr/>
          </p:nvSpPr>
          <p:spPr>
            <a:xfrm flipH="true" flipV="true" rot="0">
              <a:off x="0" y="0"/>
              <a:ext cx="6868033" cy="6561836"/>
            </a:xfrm>
            <a:custGeom>
              <a:avLst/>
              <a:gdLst/>
              <a:ahLst/>
              <a:cxnLst/>
              <a:rect r="r" b="b" t="t" l="l"/>
              <a:pathLst>
                <a:path h="6561836" w="6868033">
                  <a:moveTo>
                    <a:pt x="6868033" y="6561836"/>
                  </a:moveTo>
                  <a:lnTo>
                    <a:pt x="0" y="6561836"/>
                  </a:lnTo>
                  <a:lnTo>
                    <a:pt x="0" y="0"/>
                  </a:lnTo>
                  <a:lnTo>
                    <a:pt x="6868033" y="0"/>
                  </a:lnTo>
                  <a:lnTo>
                    <a:pt x="6868033" y="6561836"/>
                  </a:lnTo>
                  <a:close/>
                </a:path>
              </a:pathLst>
            </a:custGeom>
            <a:blipFill>
              <a:blip r:embed="rId7"/>
              <a:stretch>
                <a:fillRect l="-3" t="0" r="-4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416764" y="281786"/>
            <a:ext cx="17191595" cy="172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939"/>
              </a:lnSpc>
              <a:spcBef>
                <a:spcPct val="0"/>
              </a:spcBef>
            </a:pPr>
            <a:r>
              <a:rPr lang="en-US" b="true" sz="4957" strike="noStrike" u="none">
                <a:solidFill>
                  <a:srgbClr val="660D21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Experimental Results: Latency Distribution Analysis And Performance Impact of Write-Heavy Workloads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960705">
            <a:off x="-1436616" y="7724775"/>
            <a:ext cx="5006947" cy="4114800"/>
          </a:xfrm>
          <a:custGeom>
            <a:avLst/>
            <a:gdLst/>
            <a:ahLst/>
            <a:cxnLst/>
            <a:rect r="r" b="b" t="t" l="l"/>
            <a:pathLst>
              <a:path h="4114800" w="5006947">
                <a:moveTo>
                  <a:pt x="0" y="0"/>
                </a:moveTo>
                <a:lnTo>
                  <a:pt x="5006947" y="0"/>
                </a:lnTo>
                <a:lnTo>
                  <a:pt x="500694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83" r="0" b="-83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794940"/>
            <a:ext cx="15939522" cy="1167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660"/>
              </a:lnSpc>
              <a:spcBef>
                <a:spcPct val="0"/>
              </a:spcBef>
            </a:pPr>
            <a:r>
              <a:rPr lang="en-US" sz="6900" strike="noStrike" u="none">
                <a:solidFill>
                  <a:srgbClr val="660D21"/>
                </a:solidFill>
                <a:latin typeface="Comic Sans"/>
                <a:ea typeface="Comic Sans"/>
                <a:cs typeface="Comic Sans"/>
                <a:sym typeface="Comic Sans"/>
              </a:rPr>
              <a:t>Limitations &amp; Observations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394021"/>
            <a:ext cx="13251254" cy="57929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4144" indent="-357072" lvl="1">
              <a:lnSpc>
                <a:spcPts val="4630"/>
              </a:lnSpc>
              <a:buFont typeface="Arial"/>
              <a:buChar char="•"/>
            </a:pPr>
            <a:r>
              <a:rPr lang="en-US" b="true" sz="3307">
                <a:solidFill>
                  <a:srgbClr val="660D21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The "Window of Vulnerability":</a:t>
            </a:r>
          </a:p>
          <a:p>
            <a:pPr algn="l" marL="1428289" indent="-476096" lvl="2">
              <a:lnSpc>
                <a:spcPts val="4630"/>
              </a:lnSpc>
              <a:buFont typeface="Arial"/>
              <a:buChar char="⚬"/>
            </a:pPr>
            <a:r>
              <a:rPr lang="en-US" b="true" sz="3307">
                <a:solidFill>
                  <a:srgbClr val="660D21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W</a:t>
            </a:r>
            <a:r>
              <a:rPr lang="en-US" b="true" sz="3307">
                <a:solidFill>
                  <a:srgbClr val="660D21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ith W=2, there is a ~175ms window where only 2/3 nodes have data.</a:t>
            </a:r>
          </a:p>
          <a:p>
            <a:pPr algn="l" marL="1428289" indent="-476096" lvl="2">
              <a:lnSpc>
                <a:spcPts val="4630"/>
              </a:lnSpc>
              <a:buFont typeface="Arial"/>
              <a:buChar char="⚬"/>
            </a:pPr>
            <a:r>
              <a:rPr lang="en-US" b="true" sz="3307">
                <a:solidFill>
                  <a:srgbClr val="660D21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Trade-off: Immediate latency vs. temporary inconsistency.</a:t>
            </a:r>
          </a:p>
          <a:p>
            <a:pPr algn="l" marL="714144" indent="-357072" lvl="1">
              <a:lnSpc>
                <a:spcPts val="4630"/>
              </a:lnSpc>
              <a:buFont typeface="Arial"/>
              <a:buChar char="•"/>
            </a:pPr>
            <a:r>
              <a:rPr lang="en-US" b="true" sz="3307">
                <a:solidFill>
                  <a:srgbClr val="660D21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Limits of Read Repair:</a:t>
            </a:r>
          </a:p>
          <a:p>
            <a:pPr algn="l" marL="1428289" indent="-476096" lvl="2">
              <a:lnSpc>
                <a:spcPts val="4630"/>
              </a:lnSpc>
              <a:buFont typeface="Arial"/>
              <a:buChar char="⚬"/>
            </a:pPr>
            <a:r>
              <a:rPr lang="en-US" b="true" sz="3307">
                <a:solidFill>
                  <a:srgbClr val="660D21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Observation: Read Repair is opportunistic. "Cold" (unread) data remains stale indefinitely.</a:t>
            </a:r>
          </a:p>
          <a:p>
            <a:pPr algn="l" marL="1428289" indent="-476096" lvl="2">
              <a:lnSpc>
                <a:spcPts val="4630"/>
              </a:lnSpc>
              <a:buFont typeface="Arial"/>
              <a:buChar char="⚬"/>
            </a:pPr>
            <a:r>
              <a:rPr lang="en-US" b="true" sz="3307">
                <a:solidFill>
                  <a:srgbClr val="660D21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Requirement: Production systems need Active Anti-Entropy (Merkle Trees) to heal silent data rot.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3136959" y="0"/>
            <a:ext cx="5151041" cy="4921391"/>
            <a:chOff x="0" y="0"/>
            <a:chExt cx="6868055" cy="6561855"/>
          </a:xfrm>
        </p:grpSpPr>
        <p:sp>
          <p:nvSpPr>
            <p:cNvPr name="Freeform 6" id="6"/>
            <p:cNvSpPr/>
            <p:nvPr/>
          </p:nvSpPr>
          <p:spPr>
            <a:xfrm flipH="true" flipV="true" rot="0">
              <a:off x="0" y="0"/>
              <a:ext cx="6868033" cy="6561836"/>
            </a:xfrm>
            <a:custGeom>
              <a:avLst/>
              <a:gdLst/>
              <a:ahLst/>
              <a:cxnLst/>
              <a:rect r="r" b="b" t="t" l="l"/>
              <a:pathLst>
                <a:path h="6561836" w="6868033">
                  <a:moveTo>
                    <a:pt x="6868033" y="6561836"/>
                  </a:moveTo>
                  <a:lnTo>
                    <a:pt x="0" y="6561836"/>
                  </a:lnTo>
                  <a:lnTo>
                    <a:pt x="0" y="0"/>
                  </a:lnTo>
                  <a:lnTo>
                    <a:pt x="6868033" y="0"/>
                  </a:lnTo>
                  <a:lnTo>
                    <a:pt x="6868033" y="6561836"/>
                  </a:lnTo>
                  <a:close/>
                </a:path>
              </a:pathLst>
            </a:custGeom>
            <a:blipFill>
              <a:blip r:embed="rId5"/>
              <a:stretch>
                <a:fillRect l="-3" t="0" r="-4" b="0"/>
              </a:stretch>
            </a:blipFill>
          </p:spPr>
        </p:sp>
      </p:grp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086014" y="0"/>
            <a:ext cx="6201986" cy="5925481"/>
            <a:chOff x="0" y="0"/>
            <a:chExt cx="8269315" cy="7900641"/>
          </a:xfrm>
        </p:grpSpPr>
        <p:sp>
          <p:nvSpPr>
            <p:cNvPr name="Freeform 3" id="3"/>
            <p:cNvSpPr/>
            <p:nvPr/>
          </p:nvSpPr>
          <p:spPr>
            <a:xfrm flipH="true" flipV="true" rot="0">
              <a:off x="0" y="0"/>
              <a:ext cx="8269351" cy="7900670"/>
            </a:xfrm>
            <a:custGeom>
              <a:avLst/>
              <a:gdLst/>
              <a:ahLst/>
              <a:cxnLst/>
              <a:rect r="r" b="b" t="t" l="l"/>
              <a:pathLst>
                <a:path h="7900670" w="8269351">
                  <a:moveTo>
                    <a:pt x="8269351" y="7900670"/>
                  </a:moveTo>
                  <a:lnTo>
                    <a:pt x="0" y="7900670"/>
                  </a:lnTo>
                  <a:lnTo>
                    <a:pt x="0" y="0"/>
                  </a:lnTo>
                  <a:lnTo>
                    <a:pt x="8269351" y="0"/>
                  </a:lnTo>
                  <a:lnTo>
                    <a:pt x="8269351" y="7900670"/>
                  </a:lnTo>
                  <a:close/>
                </a:path>
              </a:pathLst>
            </a:custGeom>
            <a:blipFill>
              <a:blip r:embed="rId3"/>
              <a:stretch>
                <a:fillRect l="-3" t="0" r="-3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-5960705">
            <a:off x="-1436616" y="7724775"/>
            <a:ext cx="5006947" cy="4114800"/>
          </a:xfrm>
          <a:custGeom>
            <a:avLst/>
            <a:gdLst/>
            <a:ahLst/>
            <a:cxnLst/>
            <a:rect r="r" b="b" t="t" l="l"/>
            <a:pathLst>
              <a:path h="4114800" w="5006947">
                <a:moveTo>
                  <a:pt x="0" y="0"/>
                </a:moveTo>
                <a:lnTo>
                  <a:pt x="5006947" y="0"/>
                </a:lnTo>
                <a:lnTo>
                  <a:pt x="500694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83" r="0" b="-83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2444960"/>
            <a:ext cx="13707199" cy="4706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9433" indent="-359716" lvl="1">
              <a:lnSpc>
                <a:spcPts val="4665"/>
              </a:lnSpc>
              <a:buFont typeface="Arial"/>
              <a:buChar char="•"/>
            </a:pPr>
            <a:r>
              <a:rPr lang="en-US" b="true" sz="3332">
                <a:solidFill>
                  <a:srgbClr val="660D21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Successfully implemented a decentralized, Dynamo-style key-value store.</a:t>
            </a:r>
          </a:p>
          <a:p>
            <a:pPr algn="l" marL="719433" indent="-359716" lvl="1">
              <a:lnSpc>
                <a:spcPts val="4665"/>
              </a:lnSpc>
              <a:buFont typeface="Arial"/>
              <a:buChar char="•"/>
            </a:pPr>
            <a:r>
              <a:rPr lang="en-US" b="true" sz="3332">
                <a:solidFill>
                  <a:srgbClr val="660D21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DC-Awareness is critical: It is the only way to survive correlated failures.</a:t>
            </a:r>
          </a:p>
          <a:p>
            <a:pPr algn="l" marL="719433" indent="-359716" lvl="1">
              <a:lnSpc>
                <a:spcPts val="4665"/>
              </a:lnSpc>
              <a:buFont typeface="Arial"/>
              <a:buChar char="•"/>
            </a:pPr>
            <a:r>
              <a:rPr lang="en-US" b="true" sz="3332">
                <a:solidFill>
                  <a:srgbClr val="660D21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Performance: Validated that W &lt; N is essential for tail latency SLAs.</a:t>
            </a:r>
          </a:p>
          <a:p>
            <a:pPr algn="l" marL="719433" indent="-359716" lvl="1">
              <a:lnSpc>
                <a:spcPts val="4665"/>
              </a:lnSpc>
              <a:buFont typeface="Arial"/>
              <a:buChar char="•"/>
            </a:pPr>
            <a:r>
              <a:rPr lang="en-US" b="true" sz="3332">
                <a:solidFill>
                  <a:srgbClr val="660D21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Resilience: Self-healing confirmed via Hinted Handoff and Read Repair tests.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661538"/>
            <a:ext cx="15939522" cy="1167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660"/>
              </a:lnSpc>
              <a:spcBef>
                <a:spcPct val="0"/>
              </a:spcBef>
            </a:pPr>
            <a:r>
              <a:rPr lang="en-US" b="true" sz="6900" strike="noStrike" u="none">
                <a:solidFill>
                  <a:srgbClr val="660D21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Conclusion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9258300" cy="10287000"/>
            <a:chOff x="0" y="0"/>
            <a:chExt cx="14295067" cy="15883407"/>
          </a:xfrm>
        </p:grpSpPr>
        <p:sp>
          <p:nvSpPr>
            <p:cNvPr name="Freeform 3" id="3"/>
            <p:cNvSpPr/>
            <p:nvPr/>
          </p:nvSpPr>
          <p:spPr>
            <a:xfrm flipH="false" flipV="true" rot="0">
              <a:off x="0" y="0"/>
              <a:ext cx="14295120" cy="15883382"/>
            </a:xfrm>
            <a:custGeom>
              <a:avLst/>
              <a:gdLst/>
              <a:ahLst/>
              <a:cxnLst/>
              <a:rect r="r" b="b" t="t" l="l"/>
              <a:pathLst>
                <a:path h="15883382" w="14295120">
                  <a:moveTo>
                    <a:pt x="0" y="15883382"/>
                  </a:moveTo>
                  <a:lnTo>
                    <a:pt x="14295120" y="15883382"/>
                  </a:lnTo>
                  <a:lnTo>
                    <a:pt x="14295120" y="0"/>
                  </a:lnTo>
                  <a:lnTo>
                    <a:pt x="0" y="0"/>
                  </a:lnTo>
                  <a:lnTo>
                    <a:pt x="0" y="15883382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4028116" y="4085908"/>
            <a:ext cx="10231768" cy="1724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139"/>
              </a:lnSpc>
            </a:pPr>
            <a:r>
              <a:rPr lang="en-US" b="true" sz="10100">
                <a:solidFill>
                  <a:srgbClr val="660D21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DAG6JOVUbjg</dc:identifier>
  <dcterms:modified xsi:type="dcterms:W3CDTF">2011-08-01T06:04:30Z</dcterms:modified>
  <cp:revision>1</cp:revision>
  <dc:title>DS.pptx</dc:title>
</cp:coreProperties>
</file>